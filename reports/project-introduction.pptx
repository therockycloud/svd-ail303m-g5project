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Liter" panose="02000503030000020004" pitchFamily="2" charset="0"/>
      <p:regular r:id="rId14"/>
    </p:embeddedFon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091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22153b74846bbf52d508f6a94600b53cef0004a2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141C">
                  <a:alpha val="80000"/>
                </a:srgbClr>
              </a:gs>
              <a:gs pos="50000">
                <a:srgbClr val="10141C">
                  <a:alpha val="90000"/>
                </a:srgbClr>
              </a:gs>
              <a:gs pos="100000">
                <a:srgbClr val="3DCC9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70524" y="1423988"/>
            <a:ext cx="2847975" cy="390525"/>
          </a:xfrm>
          <a:custGeom>
            <a:avLst/>
            <a:gdLst/>
            <a:ahLst/>
            <a:cxnLst/>
            <a:rect l="l" t="t" r="r" b="b"/>
            <a:pathLst>
              <a:path w="2847975" h="390525">
                <a:moveTo>
                  <a:pt x="195263" y="0"/>
                </a:moveTo>
                <a:lnTo>
                  <a:pt x="2652713" y="0"/>
                </a:lnTo>
                <a:cubicBezTo>
                  <a:pt x="2760481" y="0"/>
                  <a:pt x="2847975" y="87494"/>
                  <a:pt x="2847975" y="195263"/>
                </a:cubicBezTo>
                <a:lnTo>
                  <a:pt x="2847975" y="195263"/>
                </a:lnTo>
                <a:cubicBezTo>
                  <a:pt x="2847975" y="303031"/>
                  <a:pt x="2760481" y="390525"/>
                  <a:pt x="26527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 w="12700">
            <a:solidFill>
              <a:srgbClr val="3DCC9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94349" y="1547813"/>
            <a:ext cx="260315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AIL303m - MINICAPSTONE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49984" y="2047875"/>
            <a:ext cx="7696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 Recommendation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326" y="39147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8" name="Text 5"/>
          <p:cNvSpPr/>
          <p:nvPr/>
        </p:nvSpPr>
        <p:spPr>
          <a:xfrm>
            <a:off x="2364284" y="4181475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Hệ thống gợi ý phim thông minh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Nội dung chính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5591175" cy="1524000"/>
          </a:xfrm>
          <a:custGeom>
            <a:avLst/>
            <a:gdLst/>
            <a:ahLst/>
            <a:cxnLst/>
            <a:rect l="l" t="t" r="r" b="b"/>
            <a:pathLst>
              <a:path w="5591175" h="15240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1409700"/>
                </a:lnTo>
                <a:cubicBezTo>
                  <a:pt x="5591175" y="1472784"/>
                  <a:pt x="5539959" y="1524000"/>
                  <a:pt x="54768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873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5887" y="200657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9225" y="1892275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Giới thiệu dự án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9225" y="223517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Bối cảnh, mục tiêu và phạm vi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5063" y="1414463"/>
            <a:ext cx="5591175" cy="1524000"/>
          </a:xfrm>
          <a:custGeom>
            <a:avLst/>
            <a:gdLst/>
            <a:ahLst/>
            <a:cxnLst/>
            <a:rect l="l" t="t" r="r" b="b"/>
            <a:pathLst>
              <a:path w="5591175" h="15240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1409700"/>
                </a:lnTo>
                <a:cubicBezTo>
                  <a:pt x="5591175" y="1472784"/>
                  <a:pt x="5539959" y="1524000"/>
                  <a:pt x="54768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8425" y="1873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87728" y="20065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48525" y="1892275"/>
            <a:ext cx="2105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Tập dữ liệu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8525" y="2235175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MovieLens và cấu trúc dữ liệu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179713"/>
            <a:ext cx="5591175" cy="1524000"/>
          </a:xfrm>
          <a:custGeom>
            <a:avLst/>
            <a:gdLst/>
            <a:ahLst/>
            <a:cxnLst/>
            <a:rect l="l" t="t" r="r" b="b"/>
            <a:pathLst>
              <a:path w="5591175" h="15240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1409700"/>
                </a:lnTo>
                <a:cubicBezTo>
                  <a:pt x="5591175" y="1472784"/>
                  <a:pt x="5539959" y="1524000"/>
                  <a:pt x="54768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125" y="36384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54707" y="3771826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9225" y="3657526"/>
            <a:ext cx="2581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Phương pháp thực hiện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9225" y="4000426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Lộ trình và các mô hình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3179713"/>
            <a:ext cx="5591175" cy="1524000"/>
          </a:xfrm>
          <a:custGeom>
            <a:avLst/>
            <a:gdLst/>
            <a:ahLst/>
            <a:cxnLst/>
            <a:rect l="l" t="t" r="r" b="b"/>
            <a:pathLst>
              <a:path w="5591175" h="15240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1409700"/>
                </a:lnTo>
                <a:cubicBezTo>
                  <a:pt x="5591175" y="1472784"/>
                  <a:pt x="5539959" y="1524000"/>
                  <a:pt x="54768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8425" y="36384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87877" y="3771826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48525" y="3657526"/>
            <a:ext cx="2447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tích EDA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48525" y="4000426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Khám phá và trực quan hóa dữ liệu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4945038"/>
            <a:ext cx="11420475" cy="1524000"/>
          </a:xfrm>
          <a:custGeom>
            <a:avLst/>
            <a:gdLst/>
            <a:ahLst/>
            <a:cxnLst/>
            <a:rect l="l" t="t" r="r" b="b"/>
            <a:pathLst>
              <a:path w="11420475" h="1524000">
                <a:moveTo>
                  <a:pt x="114300" y="0"/>
                </a:moveTo>
                <a:lnTo>
                  <a:pt x="11306175" y="0"/>
                </a:lnTo>
                <a:cubicBezTo>
                  <a:pt x="11369259" y="0"/>
                  <a:pt x="11420475" y="51216"/>
                  <a:pt x="11420475" y="114300"/>
                </a:cubicBezTo>
                <a:lnTo>
                  <a:pt x="11420475" y="1409700"/>
                </a:lnTo>
                <a:cubicBezTo>
                  <a:pt x="11420475" y="1472784"/>
                  <a:pt x="11369259" y="1524000"/>
                  <a:pt x="113061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125" y="5403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4261" y="55371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9225" y="5422850"/>
            <a:ext cx="2038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9225" y="576575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Tổng kết và hướng phát triển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01. GIỚI THIỆU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Tổng quan dự án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5210175"/>
          </a:xfrm>
          <a:custGeom>
            <a:avLst/>
            <a:gdLst/>
            <a:ahLst/>
            <a:cxnLst/>
            <a:rect l="l" t="t" r="r" b="b"/>
            <a:pathLst>
              <a:path w="5591175" h="5210175">
                <a:moveTo>
                  <a:pt x="114311" y="0"/>
                </a:moveTo>
                <a:lnTo>
                  <a:pt x="5476864" y="0"/>
                </a:lnTo>
                <a:cubicBezTo>
                  <a:pt x="5539996" y="0"/>
                  <a:pt x="5591175" y="51179"/>
                  <a:pt x="5591175" y="114311"/>
                </a:cubicBezTo>
                <a:lnTo>
                  <a:pt x="5591175" y="5095864"/>
                </a:lnTo>
                <a:cubicBezTo>
                  <a:pt x="5591175" y="5158996"/>
                  <a:pt x="5539996" y="5210175"/>
                  <a:pt x="5476864" y="5210175"/>
                </a:cubicBezTo>
                <a:lnTo>
                  <a:pt x="114311" y="5210175"/>
                </a:lnTo>
                <a:cubicBezTo>
                  <a:pt x="51179" y="5210175"/>
                  <a:pt x="0" y="5158996"/>
                  <a:pt x="0" y="509586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7225" y="1504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6" name="Text 4"/>
          <p:cNvSpPr/>
          <p:nvPr/>
        </p:nvSpPr>
        <p:spPr>
          <a:xfrm>
            <a:off x="1090613" y="1495425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Bối cảnh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1952625"/>
            <a:ext cx="5210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Trong kỷ nguyên </a:t>
            </a:r>
            <a:r>
              <a:rPr lang="en-US" sz="1350" dirty="0">
                <a:solidFill>
                  <a:srgbClr val="3DCC91"/>
                </a:solidFill>
                <a:highlight>
                  <a:srgbClr val="3DCC91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streaming </a:t>
            </a: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ngườii dùng bị </a:t>
            </a: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quá tải bởi lựa chọn</a:t>
            </a: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Một hệ thống gợi ý mạnh mẽ là </a:t>
            </a:r>
            <a:r>
              <a:rPr lang="en-US" sz="1350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thiết yếu</a:t>
            </a: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để nâng cao trải nghiệm và sự tương tác.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888" y="5691188"/>
            <a:ext cx="5114925" cy="542925"/>
          </a:xfrm>
          <a:custGeom>
            <a:avLst/>
            <a:gdLst/>
            <a:ahLst/>
            <a:cxnLst/>
            <a:rect l="l" t="t" r="r" b="b"/>
            <a:pathLst>
              <a:path w="5114925" h="542925">
                <a:moveTo>
                  <a:pt x="76200" y="0"/>
                </a:moveTo>
                <a:lnTo>
                  <a:pt x="5038725" y="0"/>
                </a:lnTo>
                <a:cubicBezTo>
                  <a:pt x="5080809" y="0"/>
                  <a:pt x="5114925" y="34116"/>
                  <a:pt x="5114925" y="76200"/>
                </a:cubicBezTo>
                <a:lnTo>
                  <a:pt x="5114925" y="466725"/>
                </a:lnTo>
                <a:cubicBezTo>
                  <a:pt x="5114925" y="508809"/>
                  <a:pt x="5080809" y="542925"/>
                  <a:pt x="503872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50" y="58816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58483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Netflix: 80% nội dung xem từ gợi ý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5063" y="1262063"/>
            <a:ext cx="5591175" cy="5210175"/>
          </a:xfrm>
          <a:custGeom>
            <a:avLst/>
            <a:gdLst/>
            <a:ahLst/>
            <a:cxnLst/>
            <a:rect l="l" t="t" r="r" b="b"/>
            <a:pathLst>
              <a:path w="5591175" h="5210175">
                <a:moveTo>
                  <a:pt x="114311" y="0"/>
                </a:moveTo>
                <a:lnTo>
                  <a:pt x="5476864" y="0"/>
                </a:lnTo>
                <a:cubicBezTo>
                  <a:pt x="5539996" y="0"/>
                  <a:pt x="5591175" y="51179"/>
                  <a:pt x="5591175" y="114311"/>
                </a:cubicBezTo>
                <a:lnTo>
                  <a:pt x="5591175" y="5095864"/>
                </a:lnTo>
                <a:cubicBezTo>
                  <a:pt x="5591175" y="5158996"/>
                  <a:pt x="5539996" y="5210175"/>
                  <a:pt x="5476864" y="5210175"/>
                </a:cubicBezTo>
                <a:lnTo>
                  <a:pt x="114311" y="5210175"/>
                </a:lnTo>
                <a:cubicBezTo>
                  <a:pt x="51179" y="5210175"/>
                  <a:pt x="0" y="5158996"/>
                  <a:pt x="0" y="509586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6525" y="1504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3" name="Text 11"/>
          <p:cNvSpPr/>
          <p:nvPr/>
        </p:nvSpPr>
        <p:spPr>
          <a:xfrm>
            <a:off x="6919913" y="1495425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8425" y="1952625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Xây dựng hệ thống gợi ý phim phân tích </a:t>
            </a:r>
            <a:r>
              <a:rPr lang="en-US" sz="1350" dirty="0">
                <a:solidFill>
                  <a:srgbClr val="3DCC91"/>
                </a:solidFill>
                <a:highlight>
                  <a:srgbClr val="3DCC91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hành vi ngườii dùng </a:t>
            </a: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và đề xuất phim </a:t>
            </a: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 nhân hóa</a:t>
            </a: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67475" y="5362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6" name="Text 14"/>
          <p:cNvSpPr/>
          <p:nvPr/>
        </p:nvSpPr>
        <p:spPr>
          <a:xfrm>
            <a:off x="6753225" y="532447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EDA dữ liệu MovieLens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67475" y="5705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8" name="Text 16"/>
          <p:cNvSpPr/>
          <p:nvPr/>
        </p:nvSpPr>
        <p:spPr>
          <a:xfrm>
            <a:off x="6753225" y="5667375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Popularity-based (Baseline)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67475" y="6048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0" name="Text 18"/>
          <p:cNvSpPr/>
          <p:nvPr/>
        </p:nvSpPr>
        <p:spPr>
          <a:xfrm>
            <a:off x="6753225" y="6010275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Collaborative Filtering với SVD</a:t>
            </a:r>
            <a:endParaRPr lang="en-US" sz="1600" dirty="0"/>
          </a:p>
        </p:txBody>
      </p:sp>
      <p:pic>
        <p:nvPicPr>
          <p:cNvPr id="1026" name="Picture 2" descr="Netflix - App on the Amazon Appstore">
            <a:extLst>
              <a:ext uri="{FF2B5EF4-FFF2-40B4-BE49-F238E27FC236}">
                <a16:creationId xmlns:a16="http://schemas.microsoft.com/office/drawing/2014/main" id="{B33F90D7-0436-E5D7-86D8-40E3318F1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4" t="16111" r="7636" b="7917"/>
          <a:stretch>
            <a:fillRect/>
          </a:stretch>
        </p:blipFill>
        <p:spPr bwMode="auto">
          <a:xfrm>
            <a:off x="657225" y="2910509"/>
            <a:ext cx="4714875" cy="238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iến độ hòa nhập của chúng tôi: Báo cáo năm 2021 - About Netflix">
            <a:extLst>
              <a:ext uri="{FF2B5EF4-FFF2-40B4-BE49-F238E27FC236}">
                <a16:creationId xmlns:a16="http://schemas.microsoft.com/office/drawing/2014/main" id="{B1C30A07-50F8-C843-1B02-1CBC00696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253" y="2790825"/>
            <a:ext cx="4232517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02. TẬP DỮ LIỆU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MovieLens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3676650" cy="2276475"/>
          </a:xfrm>
          <a:custGeom>
            <a:avLst/>
            <a:gdLst/>
            <a:ahLst/>
            <a:cxnLst/>
            <a:rect l="l" t="t" r="r" b="b"/>
            <a:pathLst>
              <a:path w="3676650" h="2276475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2162173"/>
                </a:lnTo>
                <a:cubicBezTo>
                  <a:pt x="3676650" y="2225300"/>
                  <a:pt x="3625475" y="2276475"/>
                  <a:pt x="3562348" y="2276475"/>
                </a:cubicBezTo>
                <a:lnTo>
                  <a:pt x="114302" y="2276475"/>
                </a:lnTo>
                <a:cubicBezTo>
                  <a:pt x="51175" y="2276475"/>
                  <a:pt x="0" y="2225300"/>
                  <a:pt x="0" y="21621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725" y="2000250"/>
            <a:ext cx="3514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8163" y="253365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Đánh giá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9238" y="1262063"/>
            <a:ext cx="3676650" cy="2276475"/>
          </a:xfrm>
          <a:custGeom>
            <a:avLst/>
            <a:gdLst/>
            <a:ahLst/>
            <a:cxnLst/>
            <a:rect l="l" t="t" r="r" b="b"/>
            <a:pathLst>
              <a:path w="3676650" h="2276475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2162173"/>
                </a:lnTo>
                <a:cubicBezTo>
                  <a:pt x="3676650" y="2225300"/>
                  <a:pt x="3625475" y="2276475"/>
                  <a:pt x="3562348" y="2276475"/>
                </a:cubicBezTo>
                <a:lnTo>
                  <a:pt x="114302" y="2276475"/>
                </a:lnTo>
                <a:cubicBezTo>
                  <a:pt x="51175" y="2276475"/>
                  <a:pt x="0" y="2225300"/>
                  <a:pt x="0" y="21621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0200" y="2000250"/>
            <a:ext cx="3514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9.7K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1638" y="253365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2713" y="1262063"/>
            <a:ext cx="3676650" cy="2276475"/>
          </a:xfrm>
          <a:custGeom>
            <a:avLst/>
            <a:gdLst/>
            <a:ahLst/>
            <a:cxnLst/>
            <a:rect l="l" t="t" r="r" b="b"/>
            <a:pathLst>
              <a:path w="3676650" h="2276475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2162173"/>
                </a:lnTo>
                <a:cubicBezTo>
                  <a:pt x="3676650" y="2225300"/>
                  <a:pt x="3625475" y="2276475"/>
                  <a:pt x="3562348" y="2276475"/>
                </a:cubicBezTo>
                <a:lnTo>
                  <a:pt x="114302" y="2276475"/>
                </a:lnTo>
                <a:cubicBezTo>
                  <a:pt x="51175" y="2276475"/>
                  <a:pt x="0" y="2225300"/>
                  <a:pt x="0" y="21621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3675" y="2000250"/>
            <a:ext cx="3514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5113" y="253365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Ngườii dùng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76662"/>
            <a:ext cx="5610225" cy="1952625"/>
          </a:xfrm>
          <a:custGeom>
            <a:avLst/>
            <a:gdLst/>
            <a:ahLst/>
            <a:cxnLst/>
            <a:rect l="l" t="t" r="r" b="b"/>
            <a:pathLst>
              <a:path w="5610225" h="19526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838318"/>
                </a:lnTo>
                <a:cubicBezTo>
                  <a:pt x="5610225" y="1901448"/>
                  <a:pt x="5559048" y="1952625"/>
                  <a:pt x="54959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5313" y="39909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0"/>
                </a:move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14288" y="215786"/>
                  <a:pt x="27102" y="228600"/>
                  <a:pt x="42863" y="228600"/>
                </a:cubicBezTo>
                <a:lnTo>
                  <a:pt x="78581" y="228600"/>
                </a:lnTo>
                <a:lnTo>
                  <a:pt x="78581" y="178594"/>
                </a:lnTo>
                <a:cubicBezTo>
                  <a:pt x="78581" y="162833"/>
                  <a:pt x="91395" y="150019"/>
                  <a:pt x="107156" y="150019"/>
                </a:cubicBezTo>
                <a:lnTo>
                  <a:pt x="185738" y="150019"/>
                </a:lnTo>
                <a:lnTo>
                  <a:pt x="185738" y="76126"/>
                </a:lnTo>
                <a:cubicBezTo>
                  <a:pt x="185738" y="68535"/>
                  <a:pt x="182746" y="61258"/>
                  <a:pt x="177388" y="55900"/>
                </a:cubicBezTo>
                <a:lnTo>
                  <a:pt x="129793" y="8349"/>
                </a:lnTo>
                <a:cubicBezTo>
                  <a:pt x="124435" y="2991"/>
                  <a:pt x="117202" y="0"/>
                  <a:pt x="109612" y="0"/>
                </a:cubicBezTo>
                <a:lnTo>
                  <a:pt x="42863" y="0"/>
                </a:lnTo>
                <a:close/>
                <a:moveTo>
                  <a:pt x="159618" y="78581"/>
                </a:moveTo>
                <a:lnTo>
                  <a:pt x="117872" y="78581"/>
                </a:lnTo>
                <a:cubicBezTo>
                  <a:pt x="111934" y="78581"/>
                  <a:pt x="107156" y="73804"/>
                  <a:pt x="107156" y="67866"/>
                </a:cubicBezTo>
                <a:lnTo>
                  <a:pt x="107156" y="26119"/>
                </a:lnTo>
                <a:lnTo>
                  <a:pt x="159618" y="78581"/>
                </a:lnTo>
                <a:close/>
                <a:moveTo>
                  <a:pt x="117872" y="169664"/>
                </a:moveTo>
                <a:cubicBezTo>
                  <a:pt x="107022" y="169664"/>
                  <a:pt x="98227" y="178460"/>
                  <a:pt x="98227" y="189309"/>
                </a:cubicBezTo>
                <a:lnTo>
                  <a:pt x="98227" y="225028"/>
                </a:lnTo>
                <a:cubicBezTo>
                  <a:pt x="98227" y="235878"/>
                  <a:pt x="107022" y="244673"/>
                  <a:pt x="117872" y="244673"/>
                </a:cubicBezTo>
                <a:lnTo>
                  <a:pt x="125016" y="244673"/>
                </a:lnTo>
                <a:cubicBezTo>
                  <a:pt x="135865" y="244673"/>
                  <a:pt x="144661" y="235878"/>
                  <a:pt x="144661" y="225028"/>
                </a:cubicBezTo>
                <a:lnTo>
                  <a:pt x="144661" y="221456"/>
                </a:lnTo>
                <a:cubicBezTo>
                  <a:pt x="144661" y="216545"/>
                  <a:pt x="140643" y="212527"/>
                  <a:pt x="135731" y="212527"/>
                </a:cubicBezTo>
                <a:cubicBezTo>
                  <a:pt x="130820" y="212527"/>
                  <a:pt x="126802" y="216545"/>
                  <a:pt x="126802" y="221456"/>
                </a:cubicBezTo>
                <a:lnTo>
                  <a:pt x="126802" y="225028"/>
                </a:lnTo>
                <a:cubicBezTo>
                  <a:pt x="126802" y="226010"/>
                  <a:pt x="125998" y="226814"/>
                  <a:pt x="125016" y="226814"/>
                </a:cubicBezTo>
                <a:lnTo>
                  <a:pt x="117872" y="226814"/>
                </a:lnTo>
                <a:cubicBezTo>
                  <a:pt x="116890" y="226814"/>
                  <a:pt x="116086" y="226010"/>
                  <a:pt x="116086" y="225028"/>
                </a:cubicBezTo>
                <a:lnTo>
                  <a:pt x="116086" y="189309"/>
                </a:lnTo>
                <a:cubicBezTo>
                  <a:pt x="116086" y="188327"/>
                  <a:pt x="116890" y="187523"/>
                  <a:pt x="117872" y="187523"/>
                </a:cubicBezTo>
                <a:lnTo>
                  <a:pt x="125016" y="187523"/>
                </a:lnTo>
                <a:cubicBezTo>
                  <a:pt x="125998" y="187523"/>
                  <a:pt x="126802" y="188327"/>
                  <a:pt x="126802" y="189309"/>
                </a:cubicBezTo>
                <a:lnTo>
                  <a:pt x="126802" y="192881"/>
                </a:lnTo>
                <a:cubicBezTo>
                  <a:pt x="126802" y="197793"/>
                  <a:pt x="130820" y="201811"/>
                  <a:pt x="135731" y="201811"/>
                </a:cubicBezTo>
                <a:cubicBezTo>
                  <a:pt x="140643" y="201811"/>
                  <a:pt x="144661" y="197793"/>
                  <a:pt x="144661" y="192881"/>
                </a:cubicBezTo>
                <a:lnTo>
                  <a:pt x="144661" y="189309"/>
                </a:lnTo>
                <a:cubicBezTo>
                  <a:pt x="144661" y="178460"/>
                  <a:pt x="135865" y="169664"/>
                  <a:pt x="125016" y="169664"/>
                </a:cubicBezTo>
                <a:lnTo>
                  <a:pt x="117872" y="169664"/>
                </a:lnTo>
                <a:close/>
                <a:moveTo>
                  <a:pt x="178594" y="169664"/>
                </a:moveTo>
                <a:cubicBezTo>
                  <a:pt x="165780" y="169664"/>
                  <a:pt x="155377" y="180067"/>
                  <a:pt x="155377" y="192881"/>
                </a:cubicBezTo>
                <a:cubicBezTo>
                  <a:pt x="155377" y="205695"/>
                  <a:pt x="165780" y="216098"/>
                  <a:pt x="178594" y="216098"/>
                </a:cubicBezTo>
                <a:cubicBezTo>
                  <a:pt x="181541" y="216098"/>
                  <a:pt x="183952" y="218509"/>
                  <a:pt x="183952" y="221456"/>
                </a:cubicBezTo>
                <a:cubicBezTo>
                  <a:pt x="183952" y="224403"/>
                  <a:pt x="181541" y="226814"/>
                  <a:pt x="178594" y="226814"/>
                </a:cubicBezTo>
                <a:lnTo>
                  <a:pt x="164306" y="226814"/>
                </a:lnTo>
                <a:cubicBezTo>
                  <a:pt x="159395" y="226814"/>
                  <a:pt x="155377" y="230832"/>
                  <a:pt x="155377" y="235744"/>
                </a:cubicBezTo>
                <a:cubicBezTo>
                  <a:pt x="155377" y="240655"/>
                  <a:pt x="159395" y="244673"/>
                  <a:pt x="164306" y="244673"/>
                </a:cubicBezTo>
                <a:lnTo>
                  <a:pt x="178594" y="244673"/>
                </a:lnTo>
                <a:cubicBezTo>
                  <a:pt x="191408" y="244673"/>
                  <a:pt x="201811" y="234270"/>
                  <a:pt x="201811" y="221456"/>
                </a:cubicBezTo>
                <a:cubicBezTo>
                  <a:pt x="201811" y="208642"/>
                  <a:pt x="191408" y="198239"/>
                  <a:pt x="178594" y="198239"/>
                </a:cubicBezTo>
                <a:cubicBezTo>
                  <a:pt x="175647" y="198239"/>
                  <a:pt x="173236" y="195828"/>
                  <a:pt x="173236" y="192881"/>
                </a:cubicBezTo>
                <a:cubicBezTo>
                  <a:pt x="173236" y="189934"/>
                  <a:pt x="175647" y="187523"/>
                  <a:pt x="178594" y="187523"/>
                </a:cubicBezTo>
                <a:lnTo>
                  <a:pt x="189309" y="187523"/>
                </a:lnTo>
                <a:cubicBezTo>
                  <a:pt x="194221" y="187523"/>
                  <a:pt x="198239" y="183505"/>
                  <a:pt x="198239" y="178594"/>
                </a:cubicBezTo>
                <a:cubicBezTo>
                  <a:pt x="198239" y="173682"/>
                  <a:pt x="194221" y="169664"/>
                  <a:pt x="189309" y="169664"/>
                </a:cubicBezTo>
                <a:lnTo>
                  <a:pt x="178594" y="169664"/>
                </a:lnTo>
                <a:close/>
                <a:moveTo>
                  <a:pt x="221456" y="169664"/>
                </a:moveTo>
                <a:cubicBezTo>
                  <a:pt x="216545" y="169664"/>
                  <a:pt x="212527" y="173682"/>
                  <a:pt x="212527" y="178594"/>
                </a:cubicBezTo>
                <a:lnTo>
                  <a:pt x="212527" y="192703"/>
                </a:lnTo>
                <a:cubicBezTo>
                  <a:pt x="212527" y="208553"/>
                  <a:pt x="217215" y="224091"/>
                  <a:pt x="226010" y="237262"/>
                </a:cubicBezTo>
                <a:lnTo>
                  <a:pt x="228287" y="240700"/>
                </a:lnTo>
                <a:cubicBezTo>
                  <a:pt x="229939" y="243200"/>
                  <a:pt x="232752" y="244673"/>
                  <a:pt x="235699" y="244673"/>
                </a:cubicBezTo>
                <a:cubicBezTo>
                  <a:pt x="238646" y="244673"/>
                  <a:pt x="241459" y="243200"/>
                  <a:pt x="243111" y="240700"/>
                </a:cubicBezTo>
                <a:lnTo>
                  <a:pt x="245388" y="237262"/>
                </a:lnTo>
                <a:cubicBezTo>
                  <a:pt x="254184" y="224046"/>
                  <a:pt x="258872" y="208553"/>
                  <a:pt x="258872" y="192703"/>
                </a:cubicBezTo>
                <a:lnTo>
                  <a:pt x="258872" y="178594"/>
                </a:lnTo>
                <a:cubicBezTo>
                  <a:pt x="258872" y="173682"/>
                  <a:pt x="254853" y="169664"/>
                  <a:pt x="249942" y="169664"/>
                </a:cubicBezTo>
                <a:cubicBezTo>
                  <a:pt x="245031" y="169664"/>
                  <a:pt x="241012" y="173682"/>
                  <a:pt x="241012" y="178594"/>
                </a:cubicBezTo>
                <a:lnTo>
                  <a:pt x="241012" y="192703"/>
                </a:lnTo>
                <a:cubicBezTo>
                  <a:pt x="241012" y="201454"/>
                  <a:pt x="239182" y="210071"/>
                  <a:pt x="235654" y="218018"/>
                </a:cubicBezTo>
                <a:cubicBezTo>
                  <a:pt x="232127" y="210071"/>
                  <a:pt x="230297" y="201454"/>
                  <a:pt x="230297" y="192703"/>
                </a:cubicBezTo>
                <a:lnTo>
                  <a:pt x="230297" y="178594"/>
                </a:lnTo>
                <a:cubicBezTo>
                  <a:pt x="230297" y="173682"/>
                  <a:pt x="226278" y="169664"/>
                  <a:pt x="221367" y="169664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5" name="Text 13"/>
          <p:cNvSpPr/>
          <p:nvPr/>
        </p:nvSpPr>
        <p:spPr>
          <a:xfrm>
            <a:off x="981075" y="397192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ratings.csv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4467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7" name="Text 15"/>
          <p:cNvSpPr/>
          <p:nvPr/>
        </p:nvSpPr>
        <p:spPr>
          <a:xfrm>
            <a:off x="733425" y="43910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4772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9" name="Text 17"/>
          <p:cNvSpPr/>
          <p:nvPr/>
        </p:nvSpPr>
        <p:spPr>
          <a:xfrm>
            <a:off x="733425" y="469582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MovieID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5076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1" name="Text 19"/>
          <p:cNvSpPr/>
          <p:nvPr/>
        </p:nvSpPr>
        <p:spPr>
          <a:xfrm>
            <a:off x="733425" y="5000625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(0.5 - 5.0)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3816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3" name="Text 21"/>
          <p:cNvSpPr/>
          <p:nvPr/>
        </p:nvSpPr>
        <p:spPr>
          <a:xfrm>
            <a:off x="733425" y="5305425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6013" y="3776662"/>
            <a:ext cx="5610225" cy="1952625"/>
          </a:xfrm>
          <a:custGeom>
            <a:avLst/>
            <a:gdLst/>
            <a:ahLst/>
            <a:cxnLst/>
            <a:rect l="l" t="t" r="r" b="b"/>
            <a:pathLst>
              <a:path w="5610225" h="19526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838318"/>
                </a:lnTo>
                <a:cubicBezTo>
                  <a:pt x="5610225" y="1901448"/>
                  <a:pt x="5559048" y="1952625"/>
                  <a:pt x="54959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4138" y="39909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1431" y="164306"/>
                </a:moveTo>
                <a:lnTo>
                  <a:pt x="21431" y="178594"/>
                </a:lnTo>
                <a:cubicBezTo>
                  <a:pt x="21431" y="182523"/>
                  <a:pt x="24646" y="185738"/>
                  <a:pt x="28575" y="185738"/>
                </a:cubicBezTo>
                <a:lnTo>
                  <a:pt x="42863" y="185738"/>
                </a:lnTo>
                <a:cubicBezTo>
                  <a:pt x="46792" y="185738"/>
                  <a:pt x="50006" y="182523"/>
                  <a:pt x="50006" y="178594"/>
                </a:cubicBezTo>
                <a:lnTo>
                  <a:pt x="50006" y="164306"/>
                </a:lnTo>
                <a:cubicBezTo>
                  <a:pt x="50006" y="160377"/>
                  <a:pt x="46792" y="157163"/>
                  <a:pt x="42863" y="157163"/>
                </a:cubicBezTo>
                <a:lnTo>
                  <a:pt x="28575" y="157163"/>
                </a:lnTo>
                <a:cubicBezTo>
                  <a:pt x="24646" y="157163"/>
                  <a:pt x="21431" y="160377"/>
                  <a:pt x="21431" y="164306"/>
                </a:cubicBezTo>
                <a:close/>
                <a:moveTo>
                  <a:pt x="157163" y="157163"/>
                </a:moveTo>
                <a:cubicBezTo>
                  <a:pt x="153233" y="157163"/>
                  <a:pt x="150019" y="160377"/>
                  <a:pt x="150019" y="164306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lnTo>
                  <a:pt x="171450" y="185738"/>
                </a:lnTo>
                <a:cubicBezTo>
                  <a:pt x="175379" y="185738"/>
                  <a:pt x="178594" y="182523"/>
                  <a:pt x="178594" y="178594"/>
                </a:cubicBezTo>
                <a:lnTo>
                  <a:pt x="178594" y="164306"/>
                </a:lnTo>
                <a:cubicBezTo>
                  <a:pt x="178594" y="160377"/>
                  <a:pt x="175379" y="157163"/>
                  <a:pt x="171450" y="157163"/>
                </a:cubicBezTo>
                <a:lnTo>
                  <a:pt x="157163" y="157163"/>
                </a:lnTo>
                <a:close/>
                <a:moveTo>
                  <a:pt x="21431" y="107156"/>
                </a:moveTo>
                <a:lnTo>
                  <a:pt x="21431" y="121444"/>
                </a:lnTo>
                <a:cubicBezTo>
                  <a:pt x="21431" y="125373"/>
                  <a:pt x="24646" y="128588"/>
                  <a:pt x="28575" y="128588"/>
                </a:cubicBezTo>
                <a:lnTo>
                  <a:pt x="42863" y="128588"/>
                </a:lnTo>
                <a:cubicBezTo>
                  <a:pt x="46792" y="128588"/>
                  <a:pt x="50006" y="125373"/>
                  <a:pt x="50006" y="121444"/>
                </a:cubicBezTo>
                <a:lnTo>
                  <a:pt x="50006" y="107156"/>
                </a:lnTo>
                <a:cubicBezTo>
                  <a:pt x="50006" y="103227"/>
                  <a:pt x="46792" y="100013"/>
                  <a:pt x="42863" y="100013"/>
                </a:cubicBezTo>
                <a:lnTo>
                  <a:pt x="28575" y="100013"/>
                </a:lnTo>
                <a:cubicBezTo>
                  <a:pt x="24646" y="100013"/>
                  <a:pt x="21431" y="103227"/>
                  <a:pt x="21431" y="107156"/>
                </a:cubicBezTo>
                <a:close/>
                <a:moveTo>
                  <a:pt x="157163" y="100013"/>
                </a:moveTo>
                <a:cubicBezTo>
                  <a:pt x="153233" y="100013"/>
                  <a:pt x="150019" y="103227"/>
                  <a:pt x="150019" y="107156"/>
                </a:cubicBezTo>
                <a:lnTo>
                  <a:pt x="150019" y="121444"/>
                </a:lnTo>
                <a:cubicBezTo>
                  <a:pt x="150019" y="125373"/>
                  <a:pt x="153233" y="128588"/>
                  <a:pt x="157163" y="128588"/>
                </a:cubicBezTo>
                <a:lnTo>
                  <a:pt x="171450" y="128588"/>
                </a:lnTo>
                <a:cubicBezTo>
                  <a:pt x="175379" y="128588"/>
                  <a:pt x="178594" y="125373"/>
                  <a:pt x="178594" y="121444"/>
                </a:cubicBezTo>
                <a:lnTo>
                  <a:pt x="178594" y="107156"/>
                </a:lnTo>
                <a:cubicBezTo>
                  <a:pt x="178594" y="103227"/>
                  <a:pt x="175379" y="100013"/>
                  <a:pt x="171450" y="100013"/>
                </a:cubicBezTo>
                <a:lnTo>
                  <a:pt x="157163" y="100013"/>
                </a:lnTo>
                <a:close/>
                <a:moveTo>
                  <a:pt x="21431" y="50006"/>
                </a:moveTo>
                <a:lnTo>
                  <a:pt x="21431" y="64294"/>
                </a:lnTo>
                <a:cubicBezTo>
                  <a:pt x="21431" y="68223"/>
                  <a:pt x="24646" y="71438"/>
                  <a:pt x="28575" y="71438"/>
                </a:cubicBezTo>
                <a:lnTo>
                  <a:pt x="42863" y="71438"/>
                </a:lnTo>
                <a:cubicBezTo>
                  <a:pt x="46792" y="71438"/>
                  <a:pt x="50006" y="68223"/>
                  <a:pt x="50006" y="64294"/>
                </a:cubicBezTo>
                <a:lnTo>
                  <a:pt x="50006" y="50006"/>
                </a:lnTo>
                <a:cubicBezTo>
                  <a:pt x="50006" y="46077"/>
                  <a:pt x="46792" y="42863"/>
                  <a:pt x="42863" y="42863"/>
                </a:cubicBezTo>
                <a:lnTo>
                  <a:pt x="28575" y="42863"/>
                </a:lnTo>
                <a:cubicBezTo>
                  <a:pt x="24646" y="42863"/>
                  <a:pt x="21431" y="46077"/>
                  <a:pt x="21431" y="50006"/>
                </a:cubicBezTo>
                <a:close/>
                <a:moveTo>
                  <a:pt x="157163" y="42863"/>
                </a:moveTo>
                <a:cubicBezTo>
                  <a:pt x="153233" y="42863"/>
                  <a:pt x="150019" y="46077"/>
                  <a:pt x="150019" y="50006"/>
                </a:cubicBezTo>
                <a:lnTo>
                  <a:pt x="150019" y="64294"/>
                </a:lnTo>
                <a:cubicBezTo>
                  <a:pt x="150019" y="68223"/>
                  <a:pt x="153233" y="71438"/>
                  <a:pt x="157163" y="71438"/>
                </a:cubicBezTo>
                <a:lnTo>
                  <a:pt x="171450" y="71438"/>
                </a:lnTo>
                <a:cubicBezTo>
                  <a:pt x="175379" y="71438"/>
                  <a:pt x="178594" y="68223"/>
                  <a:pt x="178594" y="64294"/>
                </a:cubicBezTo>
                <a:lnTo>
                  <a:pt x="178594" y="50006"/>
                </a:lnTo>
                <a:cubicBezTo>
                  <a:pt x="178594" y="46077"/>
                  <a:pt x="175379" y="42863"/>
                  <a:pt x="171450" y="42863"/>
                </a:cubicBezTo>
                <a:lnTo>
                  <a:pt x="157163" y="428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6" name="Text 24"/>
          <p:cNvSpPr/>
          <p:nvPr/>
        </p:nvSpPr>
        <p:spPr>
          <a:xfrm>
            <a:off x="6791325" y="3971925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movies.csv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1275" y="4467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8" name="Text 26"/>
          <p:cNvSpPr/>
          <p:nvPr/>
        </p:nvSpPr>
        <p:spPr>
          <a:xfrm>
            <a:off x="6543675" y="439102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MovieID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1275" y="4772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0" name="Text 28"/>
          <p:cNvSpPr/>
          <p:nvPr/>
        </p:nvSpPr>
        <p:spPr>
          <a:xfrm>
            <a:off x="6543675" y="469582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1275" y="5076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2" name="Text 30"/>
          <p:cNvSpPr/>
          <p:nvPr/>
        </p:nvSpPr>
        <p:spPr>
          <a:xfrm>
            <a:off x="6543675" y="5000625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" y="61198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5" name="Text 33"/>
          <p:cNvSpPr/>
          <p:nvPr/>
        </p:nvSpPr>
        <p:spPr>
          <a:xfrm>
            <a:off x="790575" y="608647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Nguồn: </a:t>
            </a: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MovieLens (ml-latest-small)</a:t>
            </a: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Bộ dữ liệu chuẩn cho nghiên cứu hệ thống gợi 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03. PHƯƠNG PHÁP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Lộ trình thực hiện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2733675" cy="4162425"/>
          </a:xfrm>
          <a:custGeom>
            <a:avLst/>
            <a:gdLst/>
            <a:ahLst/>
            <a:cxnLst/>
            <a:rect l="l" t="t" r="r" b="b"/>
            <a:pathLst>
              <a:path w="2733675" h="41624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4048130"/>
                </a:lnTo>
                <a:cubicBezTo>
                  <a:pt x="2733675" y="4111253"/>
                  <a:pt x="2682503" y="4162425"/>
                  <a:pt x="2619380" y="4162425"/>
                </a:cubicBezTo>
                <a:lnTo>
                  <a:pt x="114295" y="4162425"/>
                </a:lnTo>
                <a:cubicBezTo>
                  <a:pt x="51172" y="4162425"/>
                  <a:pt x="0" y="4111253"/>
                  <a:pt x="0" y="4048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9413" y="1552575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206692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Thu thập &amp; Làm sạch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413" y="24860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9" name="Text 7"/>
          <p:cNvSpPr/>
          <p:nvPr/>
        </p:nvSpPr>
        <p:spPr>
          <a:xfrm>
            <a:off x="823913" y="244792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dữ liệu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3413" y="27527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1" name="Text 9"/>
          <p:cNvSpPr/>
          <p:nvPr/>
        </p:nvSpPr>
        <p:spPr>
          <a:xfrm>
            <a:off x="823913" y="271462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null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3413" y="30194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3" name="Text 11"/>
          <p:cNvSpPr/>
          <p:nvPr/>
        </p:nvSpPr>
        <p:spPr>
          <a:xfrm>
            <a:off x="823913" y="298132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Xử lý timestamp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1363" y="1262063"/>
            <a:ext cx="2733675" cy="4162425"/>
          </a:xfrm>
          <a:custGeom>
            <a:avLst/>
            <a:gdLst/>
            <a:ahLst/>
            <a:cxnLst/>
            <a:rect l="l" t="t" r="r" b="b"/>
            <a:pathLst>
              <a:path w="2733675" h="41624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4048130"/>
                </a:lnTo>
                <a:cubicBezTo>
                  <a:pt x="2733675" y="4111253"/>
                  <a:pt x="2682503" y="4162425"/>
                  <a:pt x="2619380" y="4162425"/>
                </a:cubicBezTo>
                <a:lnTo>
                  <a:pt x="114295" y="4162425"/>
                </a:lnTo>
                <a:cubicBezTo>
                  <a:pt x="51172" y="4162425"/>
                  <a:pt x="0" y="4111253"/>
                  <a:pt x="0" y="4048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66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6707" y="15525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6625" y="206692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29013" y="24860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9" name="Text 17"/>
          <p:cNvSpPr/>
          <p:nvPr/>
        </p:nvSpPr>
        <p:spPr>
          <a:xfrm>
            <a:off x="3719512" y="24479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bố đánh giá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29013" y="27527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1" name="Text 19"/>
          <p:cNvSpPr/>
          <p:nvPr/>
        </p:nvSpPr>
        <p:spPr>
          <a:xfrm>
            <a:off x="3719512" y="2714625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Phim phổ biến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29013" y="30194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3" name="Text 21"/>
          <p:cNvSpPr/>
          <p:nvPr/>
        </p:nvSpPr>
        <p:spPr>
          <a:xfrm>
            <a:off x="3719512" y="298132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thể loại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963" y="1262063"/>
            <a:ext cx="2733675" cy="4162425"/>
          </a:xfrm>
          <a:custGeom>
            <a:avLst/>
            <a:gdLst/>
            <a:ahLst/>
            <a:cxnLst/>
            <a:rect l="l" t="t" r="r" b="b"/>
            <a:pathLst>
              <a:path w="2733675" h="41624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4048130"/>
                </a:lnTo>
                <a:cubicBezTo>
                  <a:pt x="2733675" y="4111253"/>
                  <a:pt x="2682503" y="4162425"/>
                  <a:pt x="2619380" y="4162425"/>
                </a:cubicBezTo>
                <a:lnTo>
                  <a:pt x="114295" y="4162425"/>
                </a:lnTo>
                <a:cubicBezTo>
                  <a:pt x="51172" y="4162425"/>
                  <a:pt x="0" y="4111253"/>
                  <a:pt x="0" y="4048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22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49851" y="15525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2225" y="206692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2225" y="2466975"/>
            <a:ext cx="10604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Popularity-based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4613" y="27527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5113" y="271462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Rating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4613" y="30194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2" name="Text 30"/>
          <p:cNvSpPr/>
          <p:nvPr/>
        </p:nvSpPr>
        <p:spPr>
          <a:xfrm>
            <a:off x="6615113" y="2981325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72563" y="1262063"/>
            <a:ext cx="2733675" cy="4162425"/>
          </a:xfrm>
          <a:custGeom>
            <a:avLst/>
            <a:gdLst/>
            <a:ahLst/>
            <a:cxnLst/>
            <a:rect l="l" t="t" r="r" b="b"/>
            <a:pathLst>
              <a:path w="2733675" h="41624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4048130"/>
                </a:lnTo>
                <a:cubicBezTo>
                  <a:pt x="2733675" y="4111253"/>
                  <a:pt x="2682503" y="4162425"/>
                  <a:pt x="2619380" y="4162425"/>
                </a:cubicBezTo>
                <a:lnTo>
                  <a:pt x="114295" y="4162425"/>
                </a:lnTo>
                <a:cubicBezTo>
                  <a:pt x="51172" y="4162425"/>
                  <a:pt x="0" y="4111253"/>
                  <a:pt x="0" y="4048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678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CC91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447981" y="15525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67825" y="206692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Model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67825" y="2466975"/>
            <a:ext cx="1199406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20213" y="27527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9" name="Text 37"/>
          <p:cNvSpPr/>
          <p:nvPr/>
        </p:nvSpPr>
        <p:spPr>
          <a:xfrm>
            <a:off x="9510713" y="2714625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320213" y="301942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41" name="Text 39"/>
          <p:cNvSpPr/>
          <p:nvPr/>
        </p:nvSpPr>
        <p:spPr>
          <a:xfrm>
            <a:off x="9510713" y="2981325"/>
            <a:ext cx="40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624513"/>
            <a:ext cx="5629275" cy="847725"/>
          </a:xfrm>
          <a:custGeom>
            <a:avLst/>
            <a:gdLst/>
            <a:ahLst/>
            <a:cxnLst/>
            <a:rect l="l" t="t" r="r" b="b"/>
            <a:pathLst>
              <a:path w="5629275" h="847725">
                <a:moveTo>
                  <a:pt x="76202" y="0"/>
                </a:moveTo>
                <a:lnTo>
                  <a:pt x="5553073" y="0"/>
                </a:lnTo>
                <a:cubicBezTo>
                  <a:pt x="5595130" y="0"/>
                  <a:pt x="5629275" y="34145"/>
                  <a:pt x="5629275" y="76202"/>
                </a:cubicBezTo>
                <a:lnTo>
                  <a:pt x="5629275" y="771523"/>
                </a:lnTo>
                <a:cubicBezTo>
                  <a:pt x="5629275" y="813580"/>
                  <a:pt x="5595130" y="847725"/>
                  <a:pt x="55530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6022" y="58293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44" name="Text 42"/>
          <p:cNvSpPr/>
          <p:nvPr/>
        </p:nvSpPr>
        <p:spPr>
          <a:xfrm>
            <a:off x="819150" y="5781675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Model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2925" y="612457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Đề xuất dựa trên độ phổ biến cho ngườii dùng mới (Cold Start)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6963" y="5624513"/>
            <a:ext cx="5629275" cy="847725"/>
          </a:xfrm>
          <a:custGeom>
            <a:avLst/>
            <a:gdLst/>
            <a:ahLst/>
            <a:cxnLst/>
            <a:rect l="l" t="t" r="r" b="b"/>
            <a:pathLst>
              <a:path w="5629275" h="847725">
                <a:moveTo>
                  <a:pt x="76202" y="0"/>
                </a:moveTo>
                <a:lnTo>
                  <a:pt x="5553073" y="0"/>
                </a:lnTo>
                <a:cubicBezTo>
                  <a:pt x="5595130" y="0"/>
                  <a:pt x="5629275" y="34145"/>
                  <a:pt x="5629275" y="76202"/>
                </a:cubicBezTo>
                <a:lnTo>
                  <a:pt x="5629275" y="771523"/>
                </a:lnTo>
                <a:cubicBezTo>
                  <a:pt x="5629275" y="813580"/>
                  <a:pt x="5595130" y="847725"/>
                  <a:pt x="55530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7938" y="5829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48" name="Text 46"/>
          <p:cNvSpPr/>
          <p:nvPr/>
        </p:nvSpPr>
        <p:spPr>
          <a:xfrm>
            <a:off x="6610350" y="5781675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Model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34125" y="612457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SVD - Cá nhân hóa dựa trên latent factors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03. PHƯƠNG PHÁP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Tại sao chọn SVD?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4467225"/>
          </a:xfrm>
          <a:custGeom>
            <a:avLst/>
            <a:gdLst/>
            <a:ahLst/>
            <a:cxnLst/>
            <a:rect l="l" t="t" r="r" b="b"/>
            <a:pathLst>
              <a:path w="5591175" h="4467225">
                <a:moveTo>
                  <a:pt x="114316" y="0"/>
                </a:moveTo>
                <a:lnTo>
                  <a:pt x="5476859" y="0"/>
                </a:lnTo>
                <a:cubicBezTo>
                  <a:pt x="5539994" y="0"/>
                  <a:pt x="5591175" y="51181"/>
                  <a:pt x="5591175" y="114316"/>
                </a:cubicBezTo>
                <a:lnTo>
                  <a:pt x="5591175" y="4352909"/>
                </a:lnTo>
                <a:cubicBezTo>
                  <a:pt x="5591175" y="4416044"/>
                  <a:pt x="5539994" y="4467225"/>
                  <a:pt x="5476859" y="4467225"/>
                </a:cubicBezTo>
                <a:lnTo>
                  <a:pt x="114316" y="4467225"/>
                </a:lnTo>
                <a:cubicBezTo>
                  <a:pt x="51181" y="4467225"/>
                  <a:pt x="0" y="4416044"/>
                  <a:pt x="0" y="43529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9366" y="15049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6" name="Text 4"/>
          <p:cNvSpPr/>
          <p:nvPr/>
        </p:nvSpPr>
        <p:spPr>
          <a:xfrm>
            <a:off x="1090613" y="1495425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Ánh xạ chương trình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888" y="1957388"/>
            <a:ext cx="5114925" cy="847725"/>
          </a:xfrm>
          <a:custGeom>
            <a:avLst/>
            <a:gdLst/>
            <a:ahLst/>
            <a:cxnLst/>
            <a:rect l="l" t="t" r="r" b="b"/>
            <a:pathLst>
              <a:path w="5114925" h="847725">
                <a:moveTo>
                  <a:pt x="76202" y="0"/>
                </a:moveTo>
                <a:lnTo>
                  <a:pt x="5038723" y="0"/>
                </a:lnTo>
                <a:cubicBezTo>
                  <a:pt x="5080780" y="0"/>
                  <a:pt x="5114925" y="34145"/>
                  <a:pt x="5114925" y="76202"/>
                </a:cubicBezTo>
                <a:lnTo>
                  <a:pt x="5114925" y="771523"/>
                </a:lnTo>
                <a:cubicBezTo>
                  <a:pt x="5114925" y="813580"/>
                  <a:pt x="5080780" y="847725"/>
                  <a:pt x="503872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050" y="211455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55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050" y="241935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962275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SVD là kỹ thuật giảm chiều dữ liệu </a:t>
            </a:r>
            <a:r>
              <a:rPr lang="en-US" sz="1200" dirty="0">
                <a:solidFill>
                  <a:srgbClr val="3DCC91"/>
                </a:solidFill>
                <a:highlight>
                  <a:srgbClr val="3DCC91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quintessential </a:t>
            </a: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được áp dụng rộng rãi trong học máy và hệ thống gợi ý.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5148263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  <a:lnTo>
                  <a:pt x="51244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6509" y="53292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3" name="Text 11"/>
          <p:cNvSpPr/>
          <p:nvPr/>
        </p:nvSpPr>
        <p:spPr>
          <a:xfrm>
            <a:off x="847725" y="5305425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Syllabus mapping - Source 18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5063" y="1262063"/>
            <a:ext cx="5591175" cy="4467225"/>
          </a:xfrm>
          <a:custGeom>
            <a:avLst/>
            <a:gdLst/>
            <a:ahLst/>
            <a:cxnLst/>
            <a:rect l="l" t="t" r="r" b="b"/>
            <a:pathLst>
              <a:path w="5591175" h="4467225">
                <a:moveTo>
                  <a:pt x="114316" y="0"/>
                </a:moveTo>
                <a:lnTo>
                  <a:pt x="5476859" y="0"/>
                </a:lnTo>
                <a:cubicBezTo>
                  <a:pt x="5539994" y="0"/>
                  <a:pt x="5591175" y="51181"/>
                  <a:pt x="5591175" y="114316"/>
                </a:cubicBezTo>
                <a:lnTo>
                  <a:pt x="5591175" y="4352909"/>
                </a:lnTo>
                <a:cubicBezTo>
                  <a:pt x="5591175" y="4416044"/>
                  <a:pt x="5539994" y="4467225"/>
                  <a:pt x="5476859" y="4467225"/>
                </a:cubicBezTo>
                <a:lnTo>
                  <a:pt x="114316" y="4467225"/>
                </a:lnTo>
                <a:cubicBezTo>
                  <a:pt x="51181" y="4467225"/>
                  <a:pt x="0" y="4416044"/>
                  <a:pt x="0" y="43529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0806" y="15049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6" name="Text 14"/>
          <p:cNvSpPr/>
          <p:nvPr/>
        </p:nvSpPr>
        <p:spPr>
          <a:xfrm>
            <a:off x="6919913" y="149542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Cơ chế hoạt động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8425" y="1990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79617" y="2047875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67525" y="195262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rã ma trận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7525" y="218122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User-Item Interaction Matrix → Latent Factors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8425" y="2562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66818" y="2619375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67525" y="252412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chiều dữ liệu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67525" y="275272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số chiều của ma trận thưa thớt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8425" y="3133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65106" y="3190875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7525" y="3095625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Dự đoán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525" y="3324225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Dự đoán đánh giá còn thiếu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4919663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  <a:lnTo>
                  <a:pt x="51244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48425" y="5076825"/>
            <a:ext cx="5124450" cy="419100"/>
          </a:xfrm>
          <a:custGeom>
            <a:avLst/>
            <a:gdLst/>
            <a:ahLst/>
            <a:cxnLst/>
            <a:rect l="l" t="t" r="r" b="b"/>
            <a:pathLst>
              <a:path w="5124450" h="419100">
                <a:moveTo>
                  <a:pt x="76201" y="0"/>
                </a:moveTo>
                <a:lnTo>
                  <a:pt x="5048249" y="0"/>
                </a:lnTo>
                <a:cubicBezTo>
                  <a:pt x="5090334" y="0"/>
                  <a:pt x="5124450" y="34116"/>
                  <a:pt x="5124450" y="76201"/>
                </a:cubicBezTo>
                <a:lnTo>
                  <a:pt x="5124450" y="342899"/>
                </a:lnTo>
                <a:cubicBezTo>
                  <a:pt x="5124450" y="384984"/>
                  <a:pt x="5090334" y="419100"/>
                  <a:pt x="50482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98444" y="521493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2" name="Text 30"/>
          <p:cNvSpPr/>
          <p:nvPr/>
        </p:nvSpPr>
        <p:spPr>
          <a:xfrm>
            <a:off x="6791325" y="5191125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Ví dụ: Ngườii thích "Dark Comedy" cũng thích "Satire"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825" y="6086475"/>
            <a:ext cx="1118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Ưu điểm:</a:t>
            </a: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 personalized preferences &amp; hidden patterns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04. PHÂN TÍCH EDA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bố đánh giá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85863"/>
            <a:ext cx="6772275" cy="5286375"/>
          </a:xfrm>
          <a:custGeom>
            <a:avLst/>
            <a:gdLst/>
            <a:ahLst/>
            <a:cxnLst/>
            <a:rect l="l" t="t" r="r" b="b"/>
            <a:pathLst>
              <a:path w="6772275" h="5286375">
                <a:moveTo>
                  <a:pt x="114291" y="0"/>
                </a:moveTo>
                <a:lnTo>
                  <a:pt x="6657984" y="0"/>
                </a:lnTo>
                <a:cubicBezTo>
                  <a:pt x="6721105" y="0"/>
                  <a:pt x="6772275" y="51170"/>
                  <a:pt x="6772275" y="114291"/>
                </a:cubicBezTo>
                <a:lnTo>
                  <a:pt x="6772275" y="5172084"/>
                </a:lnTo>
                <a:cubicBezTo>
                  <a:pt x="6772275" y="5235205"/>
                  <a:pt x="6721105" y="5286375"/>
                  <a:pt x="6657984" y="5286375"/>
                </a:cubicBezTo>
                <a:lnTo>
                  <a:pt x="114291" y="5286375"/>
                </a:lnTo>
                <a:cubicBezTo>
                  <a:pt x="51170" y="5286375"/>
                  <a:pt x="0" y="5235205"/>
                  <a:pt x="0" y="5172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1-30-11:12:11-d5u232p36akeksr0r5q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025" y="1381125"/>
            <a:ext cx="6381750" cy="489585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358063" y="1185863"/>
            <a:ext cx="4448175" cy="2562225"/>
          </a:xfrm>
          <a:custGeom>
            <a:avLst/>
            <a:gdLst/>
            <a:ahLst/>
            <a:cxnLst/>
            <a:rect l="l" t="t" r="r" b="b"/>
            <a:pathLst>
              <a:path w="4448175" h="2562225">
                <a:moveTo>
                  <a:pt x="114301" y="0"/>
                </a:moveTo>
                <a:lnTo>
                  <a:pt x="4333874" y="0"/>
                </a:lnTo>
                <a:cubicBezTo>
                  <a:pt x="4397001" y="0"/>
                  <a:pt x="4448175" y="51174"/>
                  <a:pt x="4448175" y="114301"/>
                </a:cubicBezTo>
                <a:lnTo>
                  <a:pt x="4448175" y="2447924"/>
                </a:lnTo>
                <a:cubicBezTo>
                  <a:pt x="4448175" y="2511051"/>
                  <a:pt x="4397001" y="2562225"/>
                  <a:pt x="4333874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39037" y="13906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8" name="Text 5"/>
          <p:cNvSpPr/>
          <p:nvPr/>
        </p:nvSpPr>
        <p:spPr>
          <a:xfrm>
            <a:off x="7791450" y="1343025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bố không đều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15225" y="17240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3.0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09508" y="1781175"/>
            <a:ext cx="3095625" cy="76200"/>
          </a:xfrm>
          <a:custGeom>
            <a:avLst/>
            <a:gdLst/>
            <a:ahLst/>
            <a:cxnLst/>
            <a:rect l="l" t="t" r="r" b="b"/>
            <a:pathLst>
              <a:path w="3095625" h="76200">
                <a:moveTo>
                  <a:pt x="38100" y="0"/>
                </a:moveTo>
                <a:lnTo>
                  <a:pt x="3057525" y="0"/>
                </a:lnTo>
                <a:cubicBezTo>
                  <a:pt x="3078553" y="0"/>
                  <a:pt x="3095625" y="17072"/>
                  <a:pt x="3095625" y="38100"/>
                </a:cubicBezTo>
                <a:lnTo>
                  <a:pt x="3095625" y="38100"/>
                </a:lnTo>
                <a:cubicBezTo>
                  <a:pt x="3095625" y="59128"/>
                  <a:pt x="3078553" y="76200"/>
                  <a:pt x="30575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209508" y="1781175"/>
            <a:ext cx="2171700" cy="76200"/>
          </a:xfrm>
          <a:custGeom>
            <a:avLst/>
            <a:gdLst/>
            <a:ahLst/>
            <a:cxnLst/>
            <a:rect l="l" t="t" r="r" b="b"/>
            <a:pathLst>
              <a:path w="2171700" h="76200">
                <a:moveTo>
                  <a:pt x="38100" y="0"/>
                </a:moveTo>
                <a:lnTo>
                  <a:pt x="2133600" y="0"/>
                </a:lnTo>
                <a:cubicBezTo>
                  <a:pt x="2154628" y="0"/>
                  <a:pt x="2171700" y="17072"/>
                  <a:pt x="2171700" y="38100"/>
                </a:cubicBezTo>
                <a:lnTo>
                  <a:pt x="2171700" y="38100"/>
                </a:lnTo>
                <a:cubicBezTo>
                  <a:pt x="2171700" y="59128"/>
                  <a:pt x="2154628" y="76200"/>
                  <a:pt x="2133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2" name="Text 9"/>
          <p:cNvSpPr/>
          <p:nvPr/>
        </p:nvSpPr>
        <p:spPr>
          <a:xfrm>
            <a:off x="11422187" y="1724025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15225" y="19907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4.0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05936" y="2047875"/>
            <a:ext cx="2800350" cy="76200"/>
          </a:xfrm>
          <a:custGeom>
            <a:avLst/>
            <a:gdLst/>
            <a:ahLst/>
            <a:cxnLst/>
            <a:rect l="l" t="t" r="r" b="b"/>
            <a:pathLst>
              <a:path w="2800350" h="76200">
                <a:moveTo>
                  <a:pt x="38100" y="0"/>
                </a:moveTo>
                <a:lnTo>
                  <a:pt x="2762250" y="0"/>
                </a:lnTo>
                <a:cubicBezTo>
                  <a:pt x="2783278" y="0"/>
                  <a:pt x="2800350" y="17072"/>
                  <a:pt x="2800350" y="38100"/>
                </a:cubicBezTo>
                <a:lnTo>
                  <a:pt x="2800350" y="38100"/>
                </a:lnTo>
                <a:cubicBezTo>
                  <a:pt x="2800350" y="59128"/>
                  <a:pt x="2783278" y="76200"/>
                  <a:pt x="2762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205936" y="2047875"/>
            <a:ext cx="2381250" cy="76200"/>
          </a:xfrm>
          <a:custGeom>
            <a:avLst/>
            <a:gdLst/>
            <a:ahLst/>
            <a:cxnLst/>
            <a:rect l="l" t="t" r="r" b="b"/>
            <a:pathLst>
              <a:path w="2381250" h="76200">
                <a:moveTo>
                  <a:pt x="38100" y="0"/>
                </a:moveTo>
                <a:lnTo>
                  <a:pt x="2343150" y="0"/>
                </a:lnTo>
                <a:cubicBezTo>
                  <a:pt x="2364178" y="0"/>
                  <a:pt x="2381250" y="17072"/>
                  <a:pt x="2381250" y="38100"/>
                </a:cubicBezTo>
                <a:lnTo>
                  <a:pt x="2381250" y="38100"/>
                </a:lnTo>
                <a:cubicBezTo>
                  <a:pt x="2381250" y="59128"/>
                  <a:pt x="2364178" y="76200"/>
                  <a:pt x="2343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0438" y="199072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Cao nhất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515225" y="22574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0.5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09880" y="2314575"/>
            <a:ext cx="3028950" cy="76200"/>
          </a:xfrm>
          <a:custGeom>
            <a:avLst/>
            <a:gdLst/>
            <a:ahLst/>
            <a:cxnLst/>
            <a:rect l="l" t="t" r="r" b="b"/>
            <a:pathLst>
              <a:path w="3028950" h="76200">
                <a:moveTo>
                  <a:pt x="38100" y="0"/>
                </a:moveTo>
                <a:lnTo>
                  <a:pt x="2990850" y="0"/>
                </a:lnTo>
                <a:cubicBezTo>
                  <a:pt x="3011878" y="0"/>
                  <a:pt x="3028950" y="17072"/>
                  <a:pt x="3028950" y="38100"/>
                </a:cubicBezTo>
                <a:lnTo>
                  <a:pt x="3028950" y="38100"/>
                </a:lnTo>
                <a:cubicBezTo>
                  <a:pt x="3028950" y="59128"/>
                  <a:pt x="3011878" y="76200"/>
                  <a:pt x="2990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209880" y="231457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38100"/>
                </a:lnTo>
                <a:cubicBezTo>
                  <a:pt x="304800" y="59128"/>
                  <a:pt x="287728" y="76200"/>
                  <a:pt x="266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0" name="Text 17"/>
          <p:cNvSpPr/>
          <p:nvPr/>
        </p:nvSpPr>
        <p:spPr>
          <a:xfrm>
            <a:off x="11354470" y="2257425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Thấp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15225" y="25241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5.0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09880" y="2581275"/>
            <a:ext cx="3028950" cy="76200"/>
          </a:xfrm>
          <a:custGeom>
            <a:avLst/>
            <a:gdLst/>
            <a:ahLst/>
            <a:cxnLst/>
            <a:rect l="l" t="t" r="r" b="b"/>
            <a:pathLst>
              <a:path w="3028950" h="76200">
                <a:moveTo>
                  <a:pt x="38100" y="0"/>
                </a:moveTo>
                <a:lnTo>
                  <a:pt x="2990850" y="0"/>
                </a:lnTo>
                <a:cubicBezTo>
                  <a:pt x="3011878" y="0"/>
                  <a:pt x="3028950" y="17072"/>
                  <a:pt x="3028950" y="38100"/>
                </a:cubicBezTo>
                <a:lnTo>
                  <a:pt x="3028950" y="38100"/>
                </a:lnTo>
                <a:cubicBezTo>
                  <a:pt x="3028950" y="59128"/>
                  <a:pt x="3011878" y="76200"/>
                  <a:pt x="2990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209880" y="2581275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38100"/>
                </a:lnTo>
                <a:cubicBezTo>
                  <a:pt x="762000" y="59128"/>
                  <a:pt x="744928" y="76200"/>
                  <a:pt x="723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Text 21"/>
          <p:cNvSpPr/>
          <p:nvPr/>
        </p:nvSpPr>
        <p:spPr>
          <a:xfrm>
            <a:off x="11354470" y="2524125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Thấp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58063" y="3910013"/>
            <a:ext cx="4448175" cy="2562225"/>
          </a:xfrm>
          <a:custGeom>
            <a:avLst/>
            <a:gdLst/>
            <a:ahLst/>
            <a:cxnLst/>
            <a:rect l="l" t="t" r="r" b="b"/>
            <a:pathLst>
              <a:path w="4448175" h="2562225">
                <a:moveTo>
                  <a:pt x="114301" y="0"/>
                </a:moveTo>
                <a:lnTo>
                  <a:pt x="4333874" y="0"/>
                </a:lnTo>
                <a:cubicBezTo>
                  <a:pt x="4397001" y="0"/>
                  <a:pt x="4448175" y="51174"/>
                  <a:pt x="4448175" y="114301"/>
                </a:cubicBezTo>
                <a:lnTo>
                  <a:pt x="4448175" y="2447924"/>
                </a:lnTo>
                <a:cubicBezTo>
                  <a:pt x="4448175" y="2511051"/>
                  <a:pt x="4397001" y="2562225"/>
                  <a:pt x="4333874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60469" y="4114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7" name="Text 24"/>
          <p:cNvSpPr/>
          <p:nvPr/>
        </p:nvSpPr>
        <p:spPr>
          <a:xfrm>
            <a:off x="7791450" y="4067175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42609" y="4486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9" name="Text 26"/>
          <p:cNvSpPr/>
          <p:nvPr/>
        </p:nvSpPr>
        <p:spPr>
          <a:xfrm>
            <a:off x="7758113" y="444817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Ngườii dùng thường đánh giá </a:t>
            </a: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3.0 và 4.0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42609" y="4752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1" name="Text 28"/>
          <p:cNvSpPr/>
          <p:nvPr/>
        </p:nvSpPr>
        <p:spPr>
          <a:xfrm>
            <a:off x="7758113" y="471487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Ít đánh giá cực đoan </a:t>
            </a: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 hoặc 5.0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42609" y="50196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3" name="Text 30"/>
          <p:cNvSpPr/>
          <p:nvPr/>
        </p:nvSpPr>
        <p:spPr>
          <a:xfrm>
            <a:off x="7758113" y="4981575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Ngườii dùng </a:t>
            </a: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trung lập hoặc kỹ tính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04. PHÂN TÍCH EDA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phim phổ biến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85863"/>
            <a:ext cx="5610225" cy="5286375"/>
          </a:xfrm>
          <a:custGeom>
            <a:avLst/>
            <a:gdLst/>
            <a:ahLst/>
            <a:cxnLst/>
            <a:rect l="l" t="t" r="r" b="b"/>
            <a:pathLst>
              <a:path w="5610225" h="5286375">
                <a:moveTo>
                  <a:pt x="114291" y="0"/>
                </a:moveTo>
                <a:lnTo>
                  <a:pt x="5495934" y="0"/>
                </a:lnTo>
                <a:cubicBezTo>
                  <a:pt x="5559055" y="0"/>
                  <a:pt x="5610225" y="51170"/>
                  <a:pt x="5610225" y="114291"/>
                </a:cubicBezTo>
                <a:lnTo>
                  <a:pt x="5610225" y="5172084"/>
                </a:lnTo>
                <a:cubicBezTo>
                  <a:pt x="5610225" y="5235205"/>
                  <a:pt x="5559055" y="5286375"/>
                  <a:pt x="5495934" y="5286375"/>
                </a:cubicBezTo>
                <a:lnTo>
                  <a:pt x="114291" y="5286375"/>
                </a:lnTo>
                <a:cubicBezTo>
                  <a:pt x="51170" y="5286375"/>
                  <a:pt x="0" y="5235205"/>
                  <a:pt x="0" y="5172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1-30-11:12:12-d5u2337k67e61d9l1l9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025" y="1381125"/>
            <a:ext cx="5219700" cy="489585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196013" y="1185863"/>
            <a:ext cx="5610225" cy="4276725"/>
          </a:xfrm>
          <a:custGeom>
            <a:avLst/>
            <a:gdLst/>
            <a:ahLst/>
            <a:cxnLst/>
            <a:rect l="l" t="t" r="r" b="b"/>
            <a:pathLst>
              <a:path w="5610225" h="4276725">
                <a:moveTo>
                  <a:pt x="114317" y="0"/>
                </a:moveTo>
                <a:lnTo>
                  <a:pt x="5495908" y="0"/>
                </a:lnTo>
                <a:cubicBezTo>
                  <a:pt x="5559044" y="0"/>
                  <a:pt x="5610225" y="51181"/>
                  <a:pt x="5610225" y="114317"/>
                </a:cubicBezTo>
                <a:lnTo>
                  <a:pt x="5610225" y="4162408"/>
                </a:lnTo>
                <a:cubicBezTo>
                  <a:pt x="5610225" y="4225544"/>
                  <a:pt x="5559044" y="4276725"/>
                  <a:pt x="5495908" y="4276725"/>
                </a:cubicBezTo>
                <a:lnTo>
                  <a:pt x="114317" y="4276725"/>
                </a:lnTo>
                <a:cubicBezTo>
                  <a:pt x="51181" y="4276725"/>
                  <a:pt x="0" y="4225544"/>
                  <a:pt x="0" y="416240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76988" y="13906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343025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phim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3175" y="1724025"/>
            <a:ext cx="5295900" cy="495300"/>
          </a:xfrm>
          <a:custGeom>
            <a:avLst/>
            <a:gdLst/>
            <a:ahLst/>
            <a:cxnLst/>
            <a:rect l="l" t="t" r="r" b="b"/>
            <a:pathLst>
              <a:path w="5295900" h="4953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419098"/>
                </a:lnTo>
                <a:cubicBezTo>
                  <a:pt x="5295900" y="461183"/>
                  <a:pt x="5261783" y="495300"/>
                  <a:pt x="5219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29375" y="18192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1" name="Text 8"/>
          <p:cNvSpPr/>
          <p:nvPr/>
        </p:nvSpPr>
        <p:spPr>
          <a:xfrm>
            <a:off x="6391275" y="18192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14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48475" y="180022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Forrest Gump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48475" y="1990725"/>
            <a:ext cx="478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329 ratings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53175" y="2295525"/>
            <a:ext cx="5295900" cy="495300"/>
          </a:xfrm>
          <a:custGeom>
            <a:avLst/>
            <a:gdLst/>
            <a:ahLst/>
            <a:cxnLst/>
            <a:rect l="l" t="t" r="r" b="b"/>
            <a:pathLst>
              <a:path w="5295900" h="4953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419098"/>
                </a:lnTo>
                <a:cubicBezTo>
                  <a:pt x="5295900" y="461183"/>
                  <a:pt x="5261783" y="495300"/>
                  <a:pt x="5219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29375" y="2390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CC91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391275" y="2390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14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48475" y="237172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Shawshank Redemption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48475" y="2562225"/>
            <a:ext cx="478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317 ratings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53175" y="2867025"/>
            <a:ext cx="5295900" cy="495300"/>
          </a:xfrm>
          <a:custGeom>
            <a:avLst/>
            <a:gdLst/>
            <a:ahLst/>
            <a:cxnLst/>
            <a:rect l="l" t="t" r="r" b="b"/>
            <a:pathLst>
              <a:path w="5295900" h="4953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419098"/>
                </a:lnTo>
                <a:cubicBezTo>
                  <a:pt x="5295900" y="461183"/>
                  <a:pt x="5261783" y="495300"/>
                  <a:pt x="5219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29375" y="29622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CC91">
              <a:alpha val="6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391275" y="29622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14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48475" y="294322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Pulp Fiction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48475" y="3133725"/>
            <a:ext cx="478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307 ratings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53175" y="3438525"/>
            <a:ext cx="5295900" cy="495300"/>
          </a:xfrm>
          <a:custGeom>
            <a:avLst/>
            <a:gdLst/>
            <a:ahLst/>
            <a:cxnLst/>
            <a:rect l="l" t="t" r="r" b="b"/>
            <a:pathLst>
              <a:path w="5295900" h="4953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419098"/>
                </a:lnTo>
                <a:cubicBezTo>
                  <a:pt x="5295900" y="461183"/>
                  <a:pt x="5261783" y="495300"/>
                  <a:pt x="5219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29375" y="3533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6" name="Text 23"/>
          <p:cNvSpPr/>
          <p:nvPr/>
        </p:nvSpPr>
        <p:spPr>
          <a:xfrm>
            <a:off x="6391275" y="3533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48475" y="351472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Silence of the Lambs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48475" y="3705225"/>
            <a:ext cx="478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279 ratings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53175" y="4010025"/>
            <a:ext cx="5295900" cy="495300"/>
          </a:xfrm>
          <a:custGeom>
            <a:avLst/>
            <a:gdLst/>
            <a:ahLst/>
            <a:cxnLst/>
            <a:rect l="l" t="t" r="r" b="b"/>
            <a:pathLst>
              <a:path w="5295900" h="4953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419098"/>
                </a:lnTo>
                <a:cubicBezTo>
                  <a:pt x="5295900" y="461183"/>
                  <a:pt x="5261783" y="495300"/>
                  <a:pt x="5219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429375" y="41052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Text 28"/>
          <p:cNvSpPr/>
          <p:nvPr/>
        </p:nvSpPr>
        <p:spPr>
          <a:xfrm>
            <a:off x="6391275" y="41052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48475" y="408622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48475" y="4276725"/>
            <a:ext cx="478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278 ratings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96013" y="5624513"/>
            <a:ext cx="5610225" cy="847725"/>
          </a:xfrm>
          <a:custGeom>
            <a:avLst/>
            <a:gdLst/>
            <a:ahLst/>
            <a:cxnLst/>
            <a:rect l="l" t="t" r="r" b="b"/>
            <a:pathLst>
              <a:path w="5610225" h="847725">
                <a:moveTo>
                  <a:pt x="114299" y="0"/>
                </a:moveTo>
                <a:lnTo>
                  <a:pt x="5495926" y="0"/>
                </a:lnTo>
                <a:cubicBezTo>
                  <a:pt x="5559052" y="0"/>
                  <a:pt x="5610225" y="51173"/>
                  <a:pt x="5610225" y="114299"/>
                </a:cubicBezTo>
                <a:lnTo>
                  <a:pt x="5610225" y="733426"/>
                </a:lnTo>
                <a:cubicBezTo>
                  <a:pt x="5610225" y="796552"/>
                  <a:pt x="5559052" y="847725"/>
                  <a:pt x="54959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66272" y="58293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6" name="Text 33"/>
          <p:cNvSpPr/>
          <p:nvPr/>
        </p:nvSpPr>
        <p:spPr>
          <a:xfrm>
            <a:off x="6629400" y="5781675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53175" y="6124575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Những </a:t>
            </a: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"bom tấn"</a:t>
            </a: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này tạo nền tảng cho gợi ý dựa trên độ phổ biến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04. PHÂN TÍCH EDA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Độ thưa thớt &amp; Thể loại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85863"/>
            <a:ext cx="5610225" cy="5286375"/>
          </a:xfrm>
          <a:custGeom>
            <a:avLst/>
            <a:gdLst/>
            <a:ahLst/>
            <a:cxnLst/>
            <a:rect l="l" t="t" r="r" b="b"/>
            <a:pathLst>
              <a:path w="5610225" h="5286375">
                <a:moveTo>
                  <a:pt x="114291" y="0"/>
                </a:moveTo>
                <a:lnTo>
                  <a:pt x="5495934" y="0"/>
                </a:lnTo>
                <a:cubicBezTo>
                  <a:pt x="5559055" y="0"/>
                  <a:pt x="5610225" y="51170"/>
                  <a:pt x="5610225" y="114291"/>
                </a:cubicBezTo>
                <a:lnTo>
                  <a:pt x="5610225" y="5172084"/>
                </a:lnTo>
                <a:cubicBezTo>
                  <a:pt x="5610225" y="5235205"/>
                  <a:pt x="5559055" y="5286375"/>
                  <a:pt x="5495934" y="5286375"/>
                </a:cubicBezTo>
                <a:lnTo>
                  <a:pt x="114291" y="5286375"/>
                </a:lnTo>
                <a:cubicBezTo>
                  <a:pt x="51170" y="5286375"/>
                  <a:pt x="0" y="5235205"/>
                  <a:pt x="0" y="5172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6984" y="1381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53578"/>
                </a:moveTo>
                <a:lnTo>
                  <a:pt x="214313" y="89297"/>
                </a:lnTo>
                <a:lnTo>
                  <a:pt x="178594" y="89297"/>
                </a:lnTo>
                <a:lnTo>
                  <a:pt x="178594" y="53578"/>
                </a:lnTo>
                <a:lnTo>
                  <a:pt x="214313" y="53578"/>
                </a:lnTo>
                <a:close/>
                <a:moveTo>
                  <a:pt x="214313" y="125016"/>
                </a:moveTo>
                <a:lnTo>
                  <a:pt x="214313" y="160734"/>
                </a:lnTo>
                <a:lnTo>
                  <a:pt x="178594" y="160734"/>
                </a:lnTo>
                <a:lnTo>
                  <a:pt x="178594" y="125016"/>
                </a:lnTo>
                <a:lnTo>
                  <a:pt x="214313" y="125016"/>
                </a:lnTo>
                <a:close/>
                <a:moveTo>
                  <a:pt x="214313" y="196453"/>
                </a:moveTo>
                <a:lnTo>
                  <a:pt x="214313" y="232172"/>
                </a:lnTo>
                <a:lnTo>
                  <a:pt x="178594" y="232172"/>
                </a:lnTo>
                <a:lnTo>
                  <a:pt x="178594" y="196453"/>
                </a:lnTo>
                <a:lnTo>
                  <a:pt x="214313" y="196453"/>
                </a:lnTo>
                <a:close/>
                <a:moveTo>
                  <a:pt x="142875" y="160734"/>
                </a:moveTo>
                <a:lnTo>
                  <a:pt x="107156" y="160734"/>
                </a:lnTo>
                <a:lnTo>
                  <a:pt x="107156" y="125016"/>
                </a:lnTo>
                <a:lnTo>
                  <a:pt x="142875" y="125016"/>
                </a:lnTo>
                <a:lnTo>
                  <a:pt x="142875" y="160734"/>
                </a:lnTo>
                <a:close/>
                <a:moveTo>
                  <a:pt x="107156" y="196453"/>
                </a:moveTo>
                <a:lnTo>
                  <a:pt x="142875" y="196453"/>
                </a:lnTo>
                <a:lnTo>
                  <a:pt x="142875" y="232172"/>
                </a:lnTo>
                <a:lnTo>
                  <a:pt x="107156" y="232172"/>
                </a:lnTo>
                <a:lnTo>
                  <a:pt x="107156" y="196453"/>
                </a:lnTo>
                <a:close/>
                <a:moveTo>
                  <a:pt x="71438" y="160734"/>
                </a:moveTo>
                <a:lnTo>
                  <a:pt x="35719" y="160734"/>
                </a:lnTo>
                <a:lnTo>
                  <a:pt x="35719" y="125016"/>
                </a:lnTo>
                <a:lnTo>
                  <a:pt x="71438" y="125016"/>
                </a:lnTo>
                <a:lnTo>
                  <a:pt x="71438" y="160734"/>
                </a:lnTo>
                <a:close/>
                <a:moveTo>
                  <a:pt x="35719" y="196453"/>
                </a:moveTo>
                <a:lnTo>
                  <a:pt x="71438" y="196453"/>
                </a:lnTo>
                <a:lnTo>
                  <a:pt x="71438" y="232172"/>
                </a:lnTo>
                <a:lnTo>
                  <a:pt x="35719" y="232172"/>
                </a:lnTo>
                <a:lnTo>
                  <a:pt x="35719" y="196453"/>
                </a:lnTo>
                <a:close/>
                <a:moveTo>
                  <a:pt x="35719" y="89297"/>
                </a:moveTo>
                <a:lnTo>
                  <a:pt x="35719" y="53578"/>
                </a:lnTo>
                <a:lnTo>
                  <a:pt x="71438" y="53578"/>
                </a:lnTo>
                <a:lnTo>
                  <a:pt x="71438" y="89297"/>
                </a:lnTo>
                <a:lnTo>
                  <a:pt x="35719" y="89297"/>
                </a:lnTo>
                <a:close/>
                <a:moveTo>
                  <a:pt x="107156" y="89297"/>
                </a:moveTo>
                <a:lnTo>
                  <a:pt x="107156" y="53578"/>
                </a:lnTo>
                <a:lnTo>
                  <a:pt x="142875" y="53578"/>
                </a:lnTo>
                <a:lnTo>
                  <a:pt x="142875" y="89297"/>
                </a:lnTo>
                <a:lnTo>
                  <a:pt x="107156" y="89297"/>
                </a:lnTo>
                <a:close/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6" name="Text 4"/>
          <p:cNvSpPr/>
          <p:nvPr/>
        </p:nvSpPr>
        <p:spPr>
          <a:xfrm>
            <a:off x="1052513" y="13906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 trận thưa thớt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785938"/>
            <a:ext cx="5210175" cy="3590925"/>
          </a:xfrm>
          <a:custGeom>
            <a:avLst/>
            <a:gdLst/>
            <a:ahLst/>
            <a:cxnLst/>
            <a:rect l="l" t="t" r="r" b="b"/>
            <a:pathLst>
              <a:path w="5210175" h="3590925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3514726"/>
                </a:lnTo>
                <a:cubicBezTo>
                  <a:pt x="5210175" y="3556809"/>
                  <a:pt x="5176059" y="3590925"/>
                  <a:pt x="5133976" y="3590925"/>
                </a:cubicBezTo>
                <a:lnTo>
                  <a:pt x="76199" y="3590925"/>
                </a:lnTo>
                <a:cubicBezTo>
                  <a:pt x="34116" y="3590925"/>
                  <a:pt x="0" y="3556809"/>
                  <a:pt x="0" y="3514726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0141C"/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7375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82775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08175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33576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5905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3" name="Shape 11"/>
          <p:cNvSpPr/>
          <p:nvPr/>
        </p:nvSpPr>
        <p:spPr>
          <a:xfrm>
            <a:off x="298445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9851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5325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60725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86126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1160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3700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277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2" name="Shape 20"/>
          <p:cNvSpPr/>
          <p:nvPr/>
        </p:nvSpPr>
        <p:spPr>
          <a:xfrm>
            <a:off x="230817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33576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59050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84450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09851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3532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28" name="Shape 26"/>
          <p:cNvSpPr/>
          <p:nvPr/>
        </p:nvSpPr>
        <p:spPr>
          <a:xfrm>
            <a:off x="366072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86126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11600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37000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3" name="Shape 31"/>
          <p:cNvSpPr/>
          <p:nvPr/>
        </p:nvSpPr>
        <p:spPr>
          <a:xfrm>
            <a:off x="2082775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08175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33576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59050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984450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09851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35325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60725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886126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11600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43" name="Shape 41"/>
          <p:cNvSpPr/>
          <p:nvPr/>
        </p:nvSpPr>
        <p:spPr>
          <a:xfrm>
            <a:off x="4337000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857375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082775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308175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533576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75905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98445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209851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435325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660725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886126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11160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33700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857375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082775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308175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533576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759050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984450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209851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435325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660725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886126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4111600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337000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857375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082775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308175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533576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759050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984450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209851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435325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660725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886126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111600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337000" y="340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857375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2082775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2308175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2533576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759050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2984450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3209851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435325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3660725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886126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111600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4337000" y="3600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857375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2082775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2308175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95" name="Shape 93"/>
          <p:cNvSpPr/>
          <p:nvPr/>
        </p:nvSpPr>
        <p:spPr>
          <a:xfrm>
            <a:off x="2533576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2759050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2984450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3209851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3435325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3660725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3886126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111600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337000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857375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2082775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2308175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2533576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759050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2984450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3209851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3435325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660725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3886126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4111600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4337000" y="3981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857375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2082775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2308175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2533576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2759050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2984450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3209851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3435325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3660725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3886126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4111600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4337000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857375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082775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2308175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2533576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2759050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2984450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3209851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3435325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3660725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3886126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4111600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4337000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857375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2082775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2308175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2533576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2759050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2984450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3209851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3435325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3660725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3886126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111600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4337000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585788" y="5500688"/>
            <a:ext cx="5210175" cy="466725"/>
          </a:xfrm>
          <a:custGeom>
            <a:avLst/>
            <a:gdLst/>
            <a:ahLst/>
            <a:cxnLst/>
            <a:rect l="l" t="t" r="r" b="b"/>
            <a:pathLst>
              <a:path w="5210175" h="466725">
                <a:moveTo>
                  <a:pt x="76202" y="0"/>
                </a:moveTo>
                <a:lnTo>
                  <a:pt x="5133973" y="0"/>
                </a:lnTo>
                <a:cubicBezTo>
                  <a:pt x="5176058" y="0"/>
                  <a:pt x="5210175" y="34117"/>
                  <a:pt x="5210175" y="76202"/>
                </a:cubicBezTo>
                <a:lnTo>
                  <a:pt x="5210175" y="390523"/>
                </a:lnTo>
                <a:cubicBezTo>
                  <a:pt x="5210175" y="432608"/>
                  <a:pt x="5176058" y="466725"/>
                  <a:pt x="51339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23900" y="56530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54" name="Text 152"/>
          <p:cNvSpPr/>
          <p:nvPr/>
        </p:nvSpPr>
        <p:spPr>
          <a:xfrm>
            <a:off x="952500" y="561975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&lt;1%</a:t>
            </a: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tổng số phim được đánh giá bởi mỗi ngườii dùng</a:t>
            </a:r>
            <a:endParaRPr lang="en-US" sz="1600" dirty="0"/>
          </a:p>
        </p:txBody>
      </p:sp>
      <p:sp>
        <p:nvSpPr>
          <p:cNvPr id="155" name="Shape 153"/>
          <p:cNvSpPr/>
          <p:nvPr/>
        </p:nvSpPr>
        <p:spPr>
          <a:xfrm>
            <a:off x="2188220" y="61102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56" name="Text 154"/>
          <p:cNvSpPr/>
          <p:nvPr/>
        </p:nvSpPr>
        <p:spPr>
          <a:xfrm>
            <a:off x="747713" y="6086475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SVD giúp </a:t>
            </a:r>
            <a:r>
              <a:rPr lang="en-US" sz="1050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giải quyết</a:t>
            </a: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vấn đề này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6196013" y="1185863"/>
            <a:ext cx="5610225" cy="5286375"/>
          </a:xfrm>
          <a:custGeom>
            <a:avLst/>
            <a:gdLst/>
            <a:ahLst/>
            <a:cxnLst/>
            <a:rect l="l" t="t" r="r" b="b"/>
            <a:pathLst>
              <a:path w="5610225" h="5286375">
                <a:moveTo>
                  <a:pt x="114291" y="0"/>
                </a:moveTo>
                <a:lnTo>
                  <a:pt x="5495934" y="0"/>
                </a:lnTo>
                <a:cubicBezTo>
                  <a:pt x="5559055" y="0"/>
                  <a:pt x="5610225" y="51170"/>
                  <a:pt x="5610225" y="114291"/>
                </a:cubicBezTo>
                <a:lnTo>
                  <a:pt x="5610225" y="5172084"/>
                </a:lnTo>
                <a:cubicBezTo>
                  <a:pt x="5610225" y="5235205"/>
                  <a:pt x="5559055" y="5286375"/>
                  <a:pt x="5495934" y="5286375"/>
                </a:cubicBezTo>
                <a:lnTo>
                  <a:pt x="114291" y="5286375"/>
                </a:lnTo>
                <a:cubicBezTo>
                  <a:pt x="51170" y="5286375"/>
                  <a:pt x="0" y="5235205"/>
                  <a:pt x="0" y="5172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11516" y="13811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3912" y="21822"/>
                </a:moveTo>
                <a:lnTo>
                  <a:pt x="306623" y="105705"/>
                </a:lnTo>
                <a:cubicBezTo>
                  <a:pt x="322083" y="121388"/>
                  <a:pt x="322083" y="146503"/>
                  <a:pt x="306623" y="162185"/>
                </a:cubicBezTo>
                <a:lnTo>
                  <a:pt x="219335" y="250534"/>
                </a:lnTo>
                <a:cubicBezTo>
                  <a:pt x="214145" y="255780"/>
                  <a:pt x="205662" y="255836"/>
                  <a:pt x="200416" y="250645"/>
                </a:cubicBezTo>
                <a:cubicBezTo>
                  <a:pt x="195169" y="245455"/>
                  <a:pt x="195114" y="236972"/>
                  <a:pt x="200304" y="231725"/>
                </a:cubicBezTo>
                <a:lnTo>
                  <a:pt x="287592" y="143321"/>
                </a:lnTo>
                <a:cubicBezTo>
                  <a:pt x="292726" y="138131"/>
                  <a:pt x="292726" y="129704"/>
                  <a:pt x="287592" y="124513"/>
                </a:cubicBezTo>
                <a:lnTo>
                  <a:pt x="204825" y="40686"/>
                </a:lnTo>
                <a:cubicBezTo>
                  <a:pt x="199634" y="35440"/>
                  <a:pt x="199690" y="26956"/>
                  <a:pt x="204936" y="21766"/>
                </a:cubicBezTo>
                <a:cubicBezTo>
                  <a:pt x="210183" y="16576"/>
                  <a:pt x="218666" y="16632"/>
                  <a:pt x="223856" y="21878"/>
                </a:cubicBezTo>
                <a:close/>
                <a:moveTo>
                  <a:pt x="17915" y="128085"/>
                </a:moveTo>
                <a:lnTo>
                  <a:pt x="17915" y="53578"/>
                </a:lnTo>
                <a:cubicBezTo>
                  <a:pt x="17915" y="33877"/>
                  <a:pt x="33933" y="17859"/>
                  <a:pt x="53634" y="17859"/>
                </a:cubicBezTo>
                <a:lnTo>
                  <a:pt x="128141" y="17859"/>
                </a:lnTo>
                <a:cubicBezTo>
                  <a:pt x="137629" y="17859"/>
                  <a:pt x="146726" y="21599"/>
                  <a:pt x="153423" y="28296"/>
                </a:cubicBezTo>
                <a:lnTo>
                  <a:pt x="233790" y="108663"/>
                </a:lnTo>
                <a:cubicBezTo>
                  <a:pt x="247743" y="122616"/>
                  <a:pt x="247743" y="145219"/>
                  <a:pt x="233790" y="159172"/>
                </a:cubicBezTo>
                <a:lnTo>
                  <a:pt x="159283" y="233679"/>
                </a:lnTo>
                <a:cubicBezTo>
                  <a:pt x="145331" y="247631"/>
                  <a:pt x="122727" y="247631"/>
                  <a:pt x="108775" y="233679"/>
                </a:cubicBezTo>
                <a:lnTo>
                  <a:pt x="28408" y="153312"/>
                </a:lnTo>
                <a:cubicBezTo>
                  <a:pt x="21710" y="146614"/>
                  <a:pt x="17971" y="137517"/>
                  <a:pt x="17971" y="128029"/>
                </a:cubicBezTo>
                <a:close/>
                <a:moveTo>
                  <a:pt x="98282" y="80367"/>
                </a:moveTo>
                <a:cubicBezTo>
                  <a:pt x="98282" y="70510"/>
                  <a:pt x="90280" y="62508"/>
                  <a:pt x="80423" y="62508"/>
                </a:cubicBezTo>
                <a:cubicBezTo>
                  <a:pt x="70566" y="62508"/>
                  <a:pt x="62564" y="70510"/>
                  <a:pt x="62564" y="80367"/>
                </a:cubicBezTo>
                <a:cubicBezTo>
                  <a:pt x="62564" y="90224"/>
                  <a:pt x="70566" y="98227"/>
                  <a:pt x="80423" y="98227"/>
                </a:cubicBezTo>
                <a:cubicBezTo>
                  <a:pt x="90280" y="98227"/>
                  <a:pt x="98282" y="90224"/>
                  <a:pt x="98282" y="80367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59" name="Text 157"/>
          <p:cNvSpPr/>
          <p:nvPr/>
        </p:nvSpPr>
        <p:spPr>
          <a:xfrm>
            <a:off x="6862763" y="139065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bố thể loại</a:t>
            </a:r>
            <a:endParaRPr lang="en-US" sz="1600" dirty="0"/>
          </a:p>
        </p:txBody>
      </p:sp>
      <p:pic>
        <p:nvPicPr>
          <p:cNvPr id="160" name="Image 0" descr="https://kimi-img.moonshot.cn/pub/slides/26-01-30-11:12:12-d5u2330gts4cg04m8fv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1275" y="1781175"/>
            <a:ext cx="5219700" cy="3943350"/>
          </a:xfrm>
          <a:prstGeom prst="roundRect">
            <a:avLst>
              <a:gd name="adj" fmla="val 0"/>
            </a:avLst>
          </a:prstGeom>
        </p:spPr>
      </p:pic>
      <p:sp>
        <p:nvSpPr>
          <p:cNvPr id="161" name="Shape 158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6515100" y="59626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</a:t>
            </a: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và </a:t>
            </a:r>
            <a:r>
              <a:rPr lang="en-US" sz="105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Comedy</a:t>
            </a: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là thể loại phổ biến nhất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04. PHÂN TÍCH EDA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luận EDA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4467225"/>
          </a:xfrm>
          <a:custGeom>
            <a:avLst/>
            <a:gdLst/>
            <a:ahLst/>
            <a:cxnLst/>
            <a:rect l="l" t="t" r="r" b="b"/>
            <a:pathLst>
              <a:path w="5591175" h="4467225">
                <a:moveTo>
                  <a:pt x="114316" y="0"/>
                </a:moveTo>
                <a:lnTo>
                  <a:pt x="5476859" y="0"/>
                </a:lnTo>
                <a:cubicBezTo>
                  <a:pt x="5539994" y="0"/>
                  <a:pt x="5591175" y="51181"/>
                  <a:pt x="5591175" y="114316"/>
                </a:cubicBezTo>
                <a:lnTo>
                  <a:pt x="5591175" y="4352909"/>
                </a:lnTo>
                <a:cubicBezTo>
                  <a:pt x="5591175" y="4416044"/>
                  <a:pt x="5539994" y="4467225"/>
                  <a:pt x="5476859" y="4467225"/>
                </a:cubicBezTo>
                <a:lnTo>
                  <a:pt x="114316" y="4467225"/>
                </a:lnTo>
                <a:cubicBezTo>
                  <a:pt x="51181" y="4467225"/>
                  <a:pt x="0" y="4416044"/>
                  <a:pt x="0" y="43529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7225" y="1504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6" name="Text 4"/>
          <p:cNvSpPr/>
          <p:nvPr/>
        </p:nvSpPr>
        <p:spPr>
          <a:xfrm>
            <a:off x="1090613" y="1495425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Điểm tích cực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125" y="1990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8" name="Shape 6"/>
          <p:cNvSpPr/>
          <p:nvPr/>
        </p:nvSpPr>
        <p:spPr>
          <a:xfrm>
            <a:off x="683419" y="20478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141C"/>
          </a:solidFill>
          <a:ln/>
        </p:spPr>
      </p:sp>
      <p:sp>
        <p:nvSpPr>
          <p:cNvPr id="9" name="Text 7"/>
          <p:cNvSpPr/>
          <p:nvPr/>
        </p:nvSpPr>
        <p:spPr>
          <a:xfrm>
            <a:off x="962025" y="195262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sạch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2025" y="2181225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có missing values đáng kể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2562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419" y="26193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141C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2524125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Đủ cho collaborative filtering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2025" y="2752725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 ratings từ 600 users cho 9.7K movies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" y="3133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3419" y="31908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141C"/>
          </a:solidFill>
          <a:ln/>
        </p:spPr>
      </p:sp>
      <p:sp>
        <p:nvSpPr>
          <p:cNvPr id="17" name="Text 15"/>
          <p:cNvSpPr/>
          <p:nvPr/>
        </p:nvSpPr>
        <p:spPr>
          <a:xfrm>
            <a:off x="962025" y="3095625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bố đánh giá hợp lý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2025" y="3324225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Tập trung ở mức 3.0-4.0, ít cực đoan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1262063"/>
            <a:ext cx="5591175" cy="4467225"/>
          </a:xfrm>
          <a:custGeom>
            <a:avLst/>
            <a:gdLst/>
            <a:ahLst/>
            <a:cxnLst/>
            <a:rect l="l" t="t" r="r" b="b"/>
            <a:pathLst>
              <a:path w="5591175" h="4467225">
                <a:moveTo>
                  <a:pt x="114316" y="0"/>
                </a:moveTo>
                <a:lnTo>
                  <a:pt x="5476859" y="0"/>
                </a:lnTo>
                <a:cubicBezTo>
                  <a:pt x="5539994" y="0"/>
                  <a:pt x="5591175" y="51181"/>
                  <a:pt x="5591175" y="114316"/>
                </a:cubicBezTo>
                <a:lnTo>
                  <a:pt x="5591175" y="4352909"/>
                </a:lnTo>
                <a:cubicBezTo>
                  <a:pt x="5591175" y="4416044"/>
                  <a:pt x="5539994" y="4467225"/>
                  <a:pt x="5476859" y="4467225"/>
                </a:cubicBezTo>
                <a:lnTo>
                  <a:pt x="114316" y="4467225"/>
                </a:lnTo>
                <a:cubicBezTo>
                  <a:pt x="51181" y="4467225"/>
                  <a:pt x="0" y="4416044"/>
                  <a:pt x="0" y="43529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6525" y="1504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E0E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919913" y="1495425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Thách thức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8425" y="1990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E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8438" y="2047875"/>
            <a:ext cx="28575" cy="114300"/>
          </a:xfrm>
          <a:custGeom>
            <a:avLst/>
            <a:gdLst/>
            <a:ahLst/>
            <a:cxnLst/>
            <a:rect l="l" t="t" r="r" b="b"/>
            <a:pathLst>
              <a:path w="28575" h="114300">
                <a:moveTo>
                  <a:pt x="21431" y="7144"/>
                </a:moveTo>
                <a:cubicBezTo>
                  <a:pt x="21431" y="3192"/>
                  <a:pt x="18239" y="0"/>
                  <a:pt x="14288" y="0"/>
                </a:cubicBezTo>
                <a:cubicBezTo>
                  <a:pt x="10336" y="0"/>
                  <a:pt x="7144" y="3192"/>
                  <a:pt x="7144" y="7144"/>
                </a:cubicBezTo>
                <a:lnTo>
                  <a:pt x="7144" y="78581"/>
                </a:lnTo>
                <a:cubicBezTo>
                  <a:pt x="7144" y="82533"/>
                  <a:pt x="10336" y="85725"/>
                  <a:pt x="14288" y="85725"/>
                </a:cubicBezTo>
                <a:cubicBezTo>
                  <a:pt x="18239" y="85725"/>
                  <a:pt x="21431" y="82533"/>
                  <a:pt x="21431" y="78581"/>
                </a:cubicBezTo>
                <a:lnTo>
                  <a:pt x="21431" y="7144"/>
                </a:lnTo>
                <a:close/>
                <a:moveTo>
                  <a:pt x="14288" y="114300"/>
                </a:moveTo>
                <a:cubicBezTo>
                  <a:pt x="19221" y="114300"/>
                  <a:pt x="23217" y="110304"/>
                  <a:pt x="23217" y="105370"/>
                </a:cubicBezTo>
                <a:cubicBezTo>
                  <a:pt x="23217" y="100437"/>
                  <a:pt x="19221" y="96441"/>
                  <a:pt x="14288" y="96441"/>
                </a:cubicBezTo>
                <a:cubicBezTo>
                  <a:pt x="9354" y="96441"/>
                  <a:pt x="5358" y="100437"/>
                  <a:pt x="5358" y="105370"/>
                </a:cubicBezTo>
                <a:cubicBezTo>
                  <a:pt x="5358" y="110304"/>
                  <a:pt x="9354" y="114300"/>
                  <a:pt x="14288" y="114300"/>
                </a:cubicBezTo>
                <a:close/>
              </a:path>
            </a:pathLst>
          </a:custGeom>
          <a:solidFill>
            <a:srgbClr val="10141C"/>
          </a:solidFill>
          <a:ln/>
        </p:spPr>
      </p:sp>
      <p:sp>
        <p:nvSpPr>
          <p:cNvPr id="24" name="Text 22"/>
          <p:cNvSpPr/>
          <p:nvPr/>
        </p:nvSpPr>
        <p:spPr>
          <a:xfrm>
            <a:off x="6791325" y="1952625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Thiên lệch độ phổ biến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1325" y="2181225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số phim được đánh giá nhiều hơn hẳn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8425" y="2562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E6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548438" y="2619375"/>
            <a:ext cx="28575" cy="114300"/>
          </a:xfrm>
          <a:custGeom>
            <a:avLst/>
            <a:gdLst/>
            <a:ahLst/>
            <a:cxnLst/>
            <a:rect l="l" t="t" r="r" b="b"/>
            <a:pathLst>
              <a:path w="28575" h="114300">
                <a:moveTo>
                  <a:pt x="21431" y="7144"/>
                </a:moveTo>
                <a:cubicBezTo>
                  <a:pt x="21431" y="3192"/>
                  <a:pt x="18239" y="0"/>
                  <a:pt x="14288" y="0"/>
                </a:cubicBezTo>
                <a:cubicBezTo>
                  <a:pt x="10336" y="0"/>
                  <a:pt x="7144" y="3192"/>
                  <a:pt x="7144" y="7144"/>
                </a:cubicBezTo>
                <a:lnTo>
                  <a:pt x="7144" y="78581"/>
                </a:lnTo>
                <a:cubicBezTo>
                  <a:pt x="7144" y="82533"/>
                  <a:pt x="10336" y="85725"/>
                  <a:pt x="14288" y="85725"/>
                </a:cubicBezTo>
                <a:cubicBezTo>
                  <a:pt x="18239" y="85725"/>
                  <a:pt x="21431" y="82533"/>
                  <a:pt x="21431" y="78581"/>
                </a:cubicBezTo>
                <a:lnTo>
                  <a:pt x="21431" y="7144"/>
                </a:lnTo>
                <a:close/>
                <a:moveTo>
                  <a:pt x="14288" y="114300"/>
                </a:moveTo>
                <a:cubicBezTo>
                  <a:pt x="19221" y="114300"/>
                  <a:pt x="23217" y="110304"/>
                  <a:pt x="23217" y="105370"/>
                </a:cubicBezTo>
                <a:cubicBezTo>
                  <a:pt x="23217" y="100437"/>
                  <a:pt x="19221" y="96441"/>
                  <a:pt x="14288" y="96441"/>
                </a:cubicBezTo>
                <a:cubicBezTo>
                  <a:pt x="9354" y="96441"/>
                  <a:pt x="5358" y="100437"/>
                  <a:pt x="5358" y="105370"/>
                </a:cubicBezTo>
                <a:cubicBezTo>
                  <a:pt x="5358" y="110304"/>
                  <a:pt x="9354" y="114300"/>
                  <a:pt x="14288" y="114300"/>
                </a:cubicBezTo>
                <a:close/>
              </a:path>
            </a:pathLst>
          </a:custGeom>
          <a:solidFill>
            <a:srgbClr val="10141C"/>
          </a:solidFill>
          <a:ln/>
        </p:spPr>
      </p:sp>
      <p:sp>
        <p:nvSpPr>
          <p:cNvPr id="28" name="Text 26"/>
          <p:cNvSpPr/>
          <p:nvPr/>
        </p:nvSpPr>
        <p:spPr>
          <a:xfrm>
            <a:off x="6791325" y="2524125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 trận thưa thớt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91325" y="275272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&lt;1% interactions per user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8425" y="3133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E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548438" y="3190875"/>
            <a:ext cx="28575" cy="114300"/>
          </a:xfrm>
          <a:custGeom>
            <a:avLst/>
            <a:gdLst/>
            <a:ahLst/>
            <a:cxnLst/>
            <a:rect l="l" t="t" r="r" b="b"/>
            <a:pathLst>
              <a:path w="28575" h="114300">
                <a:moveTo>
                  <a:pt x="21431" y="7144"/>
                </a:moveTo>
                <a:cubicBezTo>
                  <a:pt x="21431" y="3192"/>
                  <a:pt x="18239" y="0"/>
                  <a:pt x="14288" y="0"/>
                </a:cubicBezTo>
                <a:cubicBezTo>
                  <a:pt x="10336" y="0"/>
                  <a:pt x="7144" y="3192"/>
                  <a:pt x="7144" y="7144"/>
                </a:cubicBezTo>
                <a:lnTo>
                  <a:pt x="7144" y="78581"/>
                </a:lnTo>
                <a:cubicBezTo>
                  <a:pt x="7144" y="82533"/>
                  <a:pt x="10336" y="85725"/>
                  <a:pt x="14288" y="85725"/>
                </a:cubicBezTo>
                <a:cubicBezTo>
                  <a:pt x="18239" y="85725"/>
                  <a:pt x="21431" y="82533"/>
                  <a:pt x="21431" y="78581"/>
                </a:cubicBezTo>
                <a:lnTo>
                  <a:pt x="21431" y="7144"/>
                </a:lnTo>
                <a:close/>
                <a:moveTo>
                  <a:pt x="14288" y="114300"/>
                </a:moveTo>
                <a:cubicBezTo>
                  <a:pt x="19221" y="114300"/>
                  <a:pt x="23217" y="110304"/>
                  <a:pt x="23217" y="105370"/>
                </a:cubicBezTo>
                <a:cubicBezTo>
                  <a:pt x="23217" y="100437"/>
                  <a:pt x="19221" y="96441"/>
                  <a:pt x="14288" y="96441"/>
                </a:cubicBezTo>
                <a:cubicBezTo>
                  <a:pt x="9354" y="96441"/>
                  <a:pt x="5358" y="100437"/>
                  <a:pt x="5358" y="105370"/>
                </a:cubicBezTo>
                <a:cubicBezTo>
                  <a:pt x="5358" y="110304"/>
                  <a:pt x="9354" y="114300"/>
                  <a:pt x="14288" y="114300"/>
                </a:cubicBezTo>
                <a:close/>
              </a:path>
            </a:pathLst>
          </a:custGeom>
          <a:solidFill>
            <a:srgbClr val="10141C"/>
          </a:solidFill>
          <a:ln/>
        </p:spPr>
      </p:sp>
      <p:sp>
        <p:nvSpPr>
          <p:cNvPr id="32" name="Text 30"/>
          <p:cNvSpPr/>
          <p:nvPr/>
        </p:nvSpPr>
        <p:spPr>
          <a:xfrm>
            <a:off x="6791325" y="309562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Start Problem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91325" y="3324225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Ngườii dùng/phim mới thiếu dữ liệu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6353" y="61198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36" name="Text 34"/>
          <p:cNvSpPr/>
          <p:nvPr/>
        </p:nvSpPr>
        <p:spPr>
          <a:xfrm>
            <a:off x="752475" y="608647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CC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Giải pháp:</a:t>
            </a: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SVD cá nhân hóa để đề xuất nội dung ngách mà ngườii dùng có thể thích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-blog.csdnimg.cn/17a08627c2f816c473b5d77645ac79c2919c4183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52" b="5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141C">
                  <a:alpha val="90000"/>
                </a:srgbClr>
              </a:gs>
              <a:gs pos="50000">
                <a:srgbClr val="10141C">
                  <a:alpha val="95000"/>
                </a:srgbClr>
              </a:gs>
              <a:gs pos="100000">
                <a:srgbClr val="3DCC91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8251" y="1362075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447675" y="0"/>
                </a:moveTo>
                <a:lnTo>
                  <a:pt x="447675" y="0"/>
                </a:lnTo>
                <a:cubicBezTo>
                  <a:pt x="694754" y="0"/>
                  <a:pt x="895350" y="200596"/>
                  <a:pt x="895350" y="447675"/>
                </a:cubicBezTo>
                <a:lnTo>
                  <a:pt x="895350" y="447675"/>
                </a:lnTo>
                <a:cubicBezTo>
                  <a:pt x="895350" y="694754"/>
                  <a:pt x="694754" y="895350"/>
                  <a:pt x="447675" y="895350"/>
                </a:cubicBezTo>
                <a:lnTo>
                  <a:pt x="447675" y="895350"/>
                </a:lnTo>
                <a:cubicBezTo>
                  <a:pt x="200596" y="895350"/>
                  <a:pt x="0" y="694754"/>
                  <a:pt x="0" y="447675"/>
                </a:cubicBezTo>
                <a:lnTo>
                  <a:pt x="0" y="447675"/>
                </a:lnTo>
                <a:cubicBezTo>
                  <a:pt x="0" y="200596"/>
                  <a:pt x="200596" y="0"/>
                  <a:pt x="447675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 w="25400">
            <a:solidFill>
              <a:srgbClr val="3DCC9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38751" y="158115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6" name="Text 3"/>
          <p:cNvSpPr/>
          <p:nvPr/>
        </p:nvSpPr>
        <p:spPr>
          <a:xfrm>
            <a:off x="4686002" y="2495550"/>
            <a:ext cx="281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Cảm ơn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326" y="3219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8" name="Text 5"/>
          <p:cNvSpPr/>
          <p:nvPr/>
        </p:nvSpPr>
        <p:spPr>
          <a:xfrm>
            <a:off x="4757440" y="3486150"/>
            <a:ext cx="2676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Câu hỏi và thảo luận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81563" y="4595813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300038" y="0"/>
                </a:moveTo>
                <a:lnTo>
                  <a:pt x="300038" y="0"/>
                </a:lnTo>
                <a:cubicBezTo>
                  <a:pt x="465633" y="0"/>
                  <a:pt x="600075" y="134442"/>
                  <a:pt x="600075" y="300038"/>
                </a:cubicBezTo>
                <a:lnTo>
                  <a:pt x="600075" y="300038"/>
                </a:lnTo>
                <a:cubicBezTo>
                  <a:pt x="600075" y="465633"/>
                  <a:pt x="465633" y="600075"/>
                  <a:pt x="300038" y="600075"/>
                </a:cubicBezTo>
                <a:lnTo>
                  <a:pt x="300038" y="600075"/>
                </a:lnTo>
                <a:cubicBezTo>
                  <a:pt x="134442" y="600075"/>
                  <a:pt x="0" y="465633"/>
                  <a:pt x="0" y="300038"/>
                </a:cubicBezTo>
                <a:lnTo>
                  <a:pt x="0" y="300038"/>
                </a:lnTo>
                <a:cubicBezTo>
                  <a:pt x="0" y="134442"/>
                  <a:pt x="134442" y="0"/>
                  <a:pt x="300037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67300" y="4781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1" name="Text 8"/>
          <p:cNvSpPr/>
          <p:nvPr/>
        </p:nvSpPr>
        <p:spPr>
          <a:xfrm>
            <a:off x="4843463" y="531495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5963" y="4595813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300038" y="0"/>
                </a:moveTo>
                <a:lnTo>
                  <a:pt x="300038" y="0"/>
                </a:lnTo>
                <a:cubicBezTo>
                  <a:pt x="465633" y="0"/>
                  <a:pt x="600075" y="134442"/>
                  <a:pt x="600075" y="300038"/>
                </a:cubicBezTo>
                <a:lnTo>
                  <a:pt x="600075" y="300038"/>
                </a:lnTo>
                <a:cubicBezTo>
                  <a:pt x="600075" y="465633"/>
                  <a:pt x="465633" y="600075"/>
                  <a:pt x="300038" y="600075"/>
                </a:cubicBezTo>
                <a:lnTo>
                  <a:pt x="300038" y="600075"/>
                </a:lnTo>
                <a:cubicBezTo>
                  <a:pt x="134442" y="600075"/>
                  <a:pt x="0" y="465633"/>
                  <a:pt x="0" y="300038"/>
                </a:cubicBezTo>
                <a:lnTo>
                  <a:pt x="0" y="300038"/>
                </a:lnTo>
                <a:cubicBezTo>
                  <a:pt x="0" y="134442"/>
                  <a:pt x="134442" y="0"/>
                  <a:pt x="300037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1700" y="4781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4" name="Text 11"/>
          <p:cNvSpPr/>
          <p:nvPr/>
        </p:nvSpPr>
        <p:spPr>
          <a:xfrm>
            <a:off x="5757863" y="531495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10363" y="4595813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300038" y="0"/>
                </a:moveTo>
                <a:lnTo>
                  <a:pt x="300038" y="0"/>
                </a:lnTo>
                <a:cubicBezTo>
                  <a:pt x="465633" y="0"/>
                  <a:pt x="600075" y="134442"/>
                  <a:pt x="600075" y="300038"/>
                </a:cubicBezTo>
                <a:lnTo>
                  <a:pt x="600075" y="300038"/>
                </a:lnTo>
                <a:cubicBezTo>
                  <a:pt x="600075" y="465633"/>
                  <a:pt x="465633" y="600075"/>
                  <a:pt x="300038" y="600075"/>
                </a:cubicBezTo>
                <a:lnTo>
                  <a:pt x="300038" y="600075"/>
                </a:lnTo>
                <a:cubicBezTo>
                  <a:pt x="134442" y="600075"/>
                  <a:pt x="0" y="465633"/>
                  <a:pt x="0" y="300038"/>
                </a:cubicBezTo>
                <a:lnTo>
                  <a:pt x="0" y="300038"/>
                </a:lnTo>
                <a:cubicBezTo>
                  <a:pt x="0" y="134442"/>
                  <a:pt x="134442" y="0"/>
                  <a:pt x="300037" y="0"/>
                </a:cubicBezTo>
                <a:close/>
              </a:path>
            </a:pathLst>
          </a:custGeom>
          <a:solidFill>
            <a:srgbClr val="3DCC91">
              <a:alpha val="10196"/>
            </a:srgbClr>
          </a:solidFill>
          <a:ln w="12700">
            <a:solidFill>
              <a:srgbClr val="3DCC91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96100" y="4781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3DCC91"/>
          </a:solidFill>
          <a:ln/>
        </p:spPr>
      </p:sp>
      <p:sp>
        <p:nvSpPr>
          <p:cNvPr id="17" name="Text 14"/>
          <p:cNvSpPr/>
          <p:nvPr/>
        </p:nvSpPr>
        <p:spPr>
          <a:xfrm>
            <a:off x="6672263" y="531495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683</Words>
  <Application>Microsoft Macintosh PowerPoint</Application>
  <PresentationFormat>Widescreen</PresentationFormat>
  <Paragraphs>169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 - Minicapstone Project</dc:title>
  <dc:subject>Movie Recommendation System - Minicapstone Project</dc:subject>
  <dc:creator>Kimi</dc:creator>
  <cp:lastModifiedBy>Phạm Hoàng Hải</cp:lastModifiedBy>
  <cp:revision>3</cp:revision>
  <dcterms:created xsi:type="dcterms:W3CDTF">2026-01-30T03:12:33Z</dcterms:created>
  <dcterms:modified xsi:type="dcterms:W3CDTF">2026-01-30T04:09:43Z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{"Label":"Movie Recommendation System - Minicapstone Project","ContentProducer":"001191110108MACG2KBH8F10000","ProduceID":"19c0ce23-2a42-8021-8000-0000e1e0f418","ReservedCode1":"","ContentPropagator":"001191110108MACG2KBH8F20000","PropagateID":"19c0ce23-2a42-8021-8000-0000e1e0f418","ReservedCode2":""}</vt:lpwstr>
  </property>
</Properties>
</file>