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8640" y="1097280"/>
            <a:ext cx="36576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D2FF"/>
                </a:solidFill>
                <a:latin typeface="Segoe UI"/>
              </a:defRPr>
            </a:pPr>
            <a:r>
              <a:t>AIL303m —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Movie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CCCCCC"/>
                </a:solidFill>
                <a:latin typeface="Segoe UI"/>
              </a:defRPr>
            </a:pPr>
            <a:r>
              <a:t>Sử dụng Non-negative Matrix Factorization (NMF)</a:t>
            </a:r>
            <a:br/>
            <a:r>
              <a:t>trên tập dữ liệu MovieLens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F5D4"/>
                </a:solidFill>
                <a:latin typeface="Segoe UI"/>
              </a:defRPr>
            </a:pPr>
            <a:r>
              <a:t>Group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Segoe UI"/>
              </a:defRPr>
            </a:pPr>
            <a:r>
              <a:t>Hải  ·  Minh  ·  Đức  ·  Chung  ·  Dương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999AA"/>
                </a:solidFill>
                <a:latin typeface="Segoe UI"/>
              </a:defRPr>
            </a:pPr>
            <a:r>
              <a:t>Tháng 3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6576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Nội Dung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CCCCCC"/>
                </a:solidFill>
                <a:latin typeface="Segoe UI"/>
              </a:defRPr>
            </a:pPr>
            <a:r>
              <a:t>01   Động lực &amp; Bối cảnh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848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CCCCCC"/>
                </a:solidFill>
                <a:latin typeface="Segoe UI"/>
              </a:defRPr>
            </a:pPr>
            <a:r>
              <a:t>02   Phát biểu bài toán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2374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CCCCCC"/>
                </a:solidFill>
                <a:latin typeface="Segoe UI"/>
              </a:defRPr>
            </a:pPr>
            <a:r>
              <a:t>03   Tổng quan hướng tiếp cận (Related Works)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6265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D2FF"/>
                </a:solidFill>
                <a:latin typeface="Segoe UI"/>
              </a:defRPr>
            </a:pPr>
            <a:r>
              <a:t>04   Tại sao chọn NMF?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015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CCCCCC"/>
                </a:solidFill>
                <a:latin typeface="Segoe UI"/>
              </a:defRPr>
            </a:pPr>
            <a:r>
              <a:t>05   Dataset &amp; 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CCCCCC"/>
                </a:solidFill>
                <a:latin typeface="Segoe UI"/>
              </a:defRPr>
            </a:pPr>
            <a:r>
              <a:t>06   Pipeline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793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CCCCCC"/>
                </a:solidFill>
                <a:latin typeface="Segoe UI"/>
              </a:defRPr>
            </a:pPr>
            <a:r>
              <a:t>07   Phương pháp (Methodology)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1830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D2FF"/>
                </a:solidFill>
                <a:latin typeface="Segoe UI"/>
              </a:defRPr>
            </a:pPr>
            <a:r>
              <a:t>08   Kết quả thực nghiệm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5721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CCCCCC"/>
                </a:solidFill>
                <a:latin typeface="Segoe UI"/>
              </a:defRPr>
            </a:pPr>
            <a:r>
              <a:t>09   Thảo luận &amp; Giới hạn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961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D2FF"/>
                </a:solidFill>
                <a:latin typeface="Segoe UI"/>
              </a:defRPr>
            </a:pPr>
            <a:r>
              <a:t>10   Kết luận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6576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Động</a:t>
            </a:r>
            <a:r>
              <a:rPr dirty="0"/>
              <a:t> Lực &amp; </a:t>
            </a:r>
            <a:r>
              <a:rPr dirty="0" err="1"/>
              <a:t>Bối</a:t>
            </a:r>
            <a:r>
              <a:rPr dirty="0"/>
              <a:t> </a:t>
            </a:r>
            <a:r>
              <a:rPr dirty="0" err="1"/>
              <a:t>Cảnh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AA"/>
                </a:solidFill>
                <a:latin typeface="Segoe UI"/>
              </a:defRPr>
            </a:pPr>
            <a:r>
              <a:t>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029200" cy="214884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D2FF"/>
                </a:solidFill>
                <a:latin typeface="Segoe UI"/>
              </a:defRPr>
            </a:pPr>
            <a:r>
              <a:t>INFORMATION OVERLOAD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r>
              <a:t>Nền tảng streaming hiện đại: hàng chục nghìn bộ phim</a:t>
            </a:r>
          </a:p>
          <a:p>
            <a:pPr algn="l">
              <a:spcAft>
                <a:spcPts val="540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r>
              <a:t>Người dùng mất thời gian tìm kiếm → cần hệ thống gợi ý tự động</a:t>
            </a:r>
          </a:p>
          <a:p>
            <a:pPr algn="l">
              <a:spcAft>
                <a:spcPts val="540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r>
              <a:t>Recommendation System = ứng dụng ML phổ biến nhất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212080" cy="214884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9F43"/>
                </a:solidFill>
                <a:latin typeface="Segoe UI"/>
              </a:defRPr>
            </a:pPr>
            <a:r>
              <a:t>TẠI SAO QUAN TRỌNG?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500" b="1">
                <a:solidFill>
                  <a:srgbClr val="FFE066"/>
                </a:solidFill>
                <a:latin typeface="Segoe UI"/>
              </a:defRPr>
            </a:pPr>
            <a:r>
              <a:t>Netflix tiết kiệm ~$1B/năm nhờ recommendation</a:t>
            </a:r>
          </a:p>
          <a:p>
            <a:pPr algn="l">
              <a:spcAft>
                <a:spcPts val="540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r>
              <a:t>80% nội dung xem trên Netflix = qua recommendation engine</a:t>
            </a:r>
          </a:p>
          <a:p>
            <a:pPr algn="l">
              <a:spcAft>
                <a:spcPts val="540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r>
              <a:t>(McKinsey, 2013)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94766"/>
            <a:ext cx="11064240" cy="1627527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372391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F5D4"/>
                </a:solidFill>
                <a:latin typeface="Segoe UI"/>
              </a:defRPr>
            </a:pPr>
            <a:r>
              <a:rPr dirty="0"/>
              <a:t>MAPPIN</a:t>
            </a:r>
            <a:r>
              <a:rPr lang="en-VN" dirty="0"/>
              <a:t>G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" y="4697686"/>
            <a:ext cx="1005840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• EDA (CLO1–CLO2): </a:t>
            </a:r>
            <a:r>
              <a:rPr dirty="0" err="1"/>
              <a:t>Khám</a:t>
            </a:r>
            <a:r>
              <a:rPr dirty="0"/>
              <a:t> </a:t>
            </a:r>
            <a:r>
              <a:rPr dirty="0" err="1"/>
              <a:t>phá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MovieLens</a:t>
            </a:r>
            <a:endParaRPr dirty="0"/>
          </a:p>
          <a:p>
            <a:pPr algn="l">
              <a:spcAft>
                <a:spcPts val="540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• Unsupervised Learning (CLO7–CLO9): Dimensionality Reduction, Clustering</a:t>
            </a:r>
          </a:p>
          <a:p>
            <a:pPr algn="l">
              <a:spcAft>
                <a:spcPts val="540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• Matrix Factorization (CLO8–CLO9): NMF — </a:t>
            </a:r>
            <a:r>
              <a:rPr dirty="0" err="1"/>
              <a:t>phương</a:t>
            </a:r>
            <a:r>
              <a:rPr dirty="0"/>
              <a:t> </a:t>
            </a:r>
            <a:r>
              <a:rPr dirty="0" err="1"/>
              <a:t>pháp</a:t>
            </a:r>
            <a:r>
              <a:rPr dirty="0"/>
              <a:t> </a:t>
            </a:r>
            <a:r>
              <a:rPr dirty="0" err="1"/>
              <a:t>cốt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án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6576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Phát Biểu Bài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AA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560320" cy="82296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D2FF"/>
                </a:solidFill>
                <a:latin typeface="Segoe UI"/>
              </a:defRPr>
            </a:pPr>
            <a:r>
              <a:t>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737360"/>
            <a:ext cx="8321040" cy="82296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CCCCCC"/>
                </a:solidFill>
                <a:latin typeface="Segoe UI"/>
              </a:defRPr>
            </a:pPr>
            <a:r>
              <a:t>Dữ liệu rating: (userId, movieId, rating)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2560320" cy="82296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F5D4"/>
                </a:solidFill>
                <a:latin typeface="Segoe UI"/>
              </a:defRPr>
            </a:pPr>
            <a:r>
              <a:t>Output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788920"/>
            <a:ext cx="8321040" cy="82296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CCCCCC"/>
                </a:solidFill>
                <a:latin typeface="Segoe UI"/>
              </a:defRPr>
            </a:pPr>
            <a:r>
              <a:t>Dự đoán rating cho cặp (user, movie) chưa xem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79"/>
            <a:ext cx="2560320" cy="82296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F5D4"/>
                </a:solidFill>
                <a:latin typeface="Segoe UI"/>
              </a:defRPr>
            </a:pPr>
            <a:r>
              <a:t>Output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3840479"/>
            <a:ext cx="8321040" cy="82296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402335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CCCCCC"/>
                </a:solidFill>
                <a:latin typeface="Segoe UI"/>
              </a:defRPr>
            </a:pPr>
            <a:r>
              <a:t>Danh sách Top-10 phim gợi ý cá nhân hóa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92040"/>
            <a:ext cx="2560320" cy="82296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9F43"/>
                </a:solidFill>
                <a:latin typeface="Segoe UI"/>
              </a:defRPr>
            </a:pPr>
            <a:r>
              <a:t>Mục tiêu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4892040"/>
            <a:ext cx="8321040" cy="82296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5074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CCCCCC"/>
                </a:solidFill>
                <a:latin typeface="Segoe UI"/>
              </a:defRPr>
            </a:pPr>
            <a:r>
              <a:t>Model tốt hơn Baseline, đo bằng metrics định lượng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62" y="6126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4"/>
              </a:spcAft>
              <a:defRPr sz="1400" b="0">
                <a:solidFill>
                  <a:srgbClr val="9999AA"/>
                </a:solidFill>
                <a:latin typeface="Segoe UI"/>
              </a:defRPr>
            </a:pPr>
            <a:r>
              <a:rPr dirty="0"/>
              <a:t>CLO Mapping: EDA (CLO1–2)  ·  Unsupervised (CLO7–9)  ·  Matrix Factorization (CLO8–9)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81374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1853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Tổng Quan Hướng Tiếp Cận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717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AA"/>
                </a:solidFill>
                <a:latin typeface="Segoe UI"/>
              </a:defRPr>
            </a:pPr>
            <a:r>
              <a:t>Related Works — Recommendation System Approaches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61534"/>
            <a:ext cx="2697480" cy="34747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61534"/>
            <a:ext cx="269748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898694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D2FF"/>
                </a:solidFill>
                <a:latin typeface="Segoe UI"/>
              </a:defRPr>
            </a:pPr>
            <a:r>
              <a:t>Content-Based</a:t>
            </a:r>
            <a:br/>
            <a:r>
              <a:t>Filtering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84494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Dựa vào đặc trưng item</a:t>
            </a:r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(genre, tags, cast)</a:t>
            </a:r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✅ Không cần data user khác</a:t>
            </a:r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❌ Thiếu novelty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761534"/>
            <a:ext cx="2697480" cy="34747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7560" y="1761534"/>
            <a:ext cx="2697480" cy="508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898694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F5D4"/>
                </a:solidFill>
                <a:latin typeface="Segoe UI"/>
              </a:defRPr>
            </a:pPr>
            <a:r>
              <a:t>Collaborative</a:t>
            </a:r>
            <a:br/>
            <a:r>
              <a:t>Filtering (CF)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84494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Dựa vào hành vi người</a:t>
            </a:r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dùng tương đồng</a:t>
            </a:r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✅ Học pattern ẩn</a:t>
            </a:r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❌ Cold-start problem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61534"/>
            <a:ext cx="2697480" cy="34747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CC5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761534"/>
            <a:ext cx="2697480" cy="50800"/>
          </a:xfrm>
          <a:prstGeom prst="rect">
            <a:avLst/>
          </a:prstGeom>
          <a:solidFill>
            <a:srgbClr val="CC5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898694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CC5DE8"/>
                </a:solidFill>
                <a:latin typeface="Segoe UI"/>
              </a:defRPr>
            </a:pPr>
            <a:r>
              <a:t>Hybrid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4494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Kết hợp Content-Based</a:t>
            </a:r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+ Collaborative Filtering</a:t>
            </a:r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✅ Bù đắp nhược điểm</a:t>
            </a:r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❌ Phức tạp hơn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761534"/>
            <a:ext cx="2697480" cy="34747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98280" y="1761534"/>
            <a:ext cx="269748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1898694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6B6B"/>
                </a:solidFill>
                <a:latin typeface="Segoe UI"/>
              </a:defRPr>
            </a:pPr>
            <a:r>
              <a:t>Deep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584494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Neural Collaborative</a:t>
            </a:r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Filtering (NCF)</a:t>
            </a:r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✅ Mạnh trên big data</a:t>
            </a:r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❌ Cần millions of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510574"/>
            <a:ext cx="11247120" cy="9144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652239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F5D4"/>
                </a:solidFill>
                <a:latin typeface="Segoe UI"/>
              </a:defRPr>
            </a:pPr>
            <a:r>
              <a:rPr dirty="0"/>
              <a:t>→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: Collaborative Filtering – Model-Based (Matrix Factorization)</a:t>
            </a:r>
            <a:br>
              <a:rPr dirty="0"/>
            </a:br>
            <a:r>
              <a:rPr dirty="0"/>
              <a:t>    Lý do: </a:t>
            </a:r>
            <a:r>
              <a:rPr dirty="0" err="1"/>
              <a:t>phù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rating prediction,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DL </a:t>
            </a:r>
            <a:r>
              <a:rPr dirty="0" err="1"/>
              <a:t>cho</a:t>
            </a:r>
            <a:r>
              <a:rPr dirty="0"/>
              <a:t> 100K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96987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4147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Tại Sao Chọn NMF?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2787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AA"/>
                </a:solidFill>
                <a:latin typeface="Segoe UI"/>
              </a:defRPr>
            </a:pPr>
            <a:r>
              <a:t>Model Selection Justification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77147"/>
            <a:ext cx="3611880" cy="18288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968587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9999AA"/>
                </a:solidFill>
                <a:latin typeface="Segoe UI"/>
              </a:defRPr>
            </a:pPr>
            <a:r>
              <a:t>SVD (Truncated)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5787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R = UΣVᵀ</a:t>
            </a:r>
          </a:p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Giá trị có thể ÂM</a:t>
            </a:r>
          </a:p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Phổ biến trong lý thuyết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877147"/>
            <a:ext cx="3611880" cy="18288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968587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9999AA"/>
                </a:solidFill>
                <a:latin typeface="Segoe UI"/>
              </a:defRPr>
            </a:pPr>
            <a:r>
              <a:t>Funk SVD (Surprise)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25787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SGD trên observed ratings</a:t>
            </a:r>
          </a:p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Xử lý sparse tốt nhất</a:t>
            </a:r>
          </a:p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Chuẩn production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77147"/>
            <a:ext cx="3611880" cy="18288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80" y="1968587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D2FF"/>
                </a:solidFill>
                <a:latin typeface="Segoe UI"/>
              </a:defRPr>
            </a:pPr>
            <a:r>
              <a:t>NMF (sklearn) 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425787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R ≈ W×H (non-negative)</a:t>
            </a:r>
          </a:p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W ≥ 0, H ≥ 0</a:t>
            </a:r>
          </a:p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Interpretable, phù hợp rating dương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7170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D2FF"/>
                </a:solidFill>
                <a:latin typeface="Segoe UI"/>
              </a:defRPr>
            </a:pPr>
            <a:r>
              <a:t>①  Non-negativity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071707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Segoe UI"/>
              </a:defRPr>
            </a:pPr>
            <a:r>
              <a:t>Rating 0.5–5.0 đều dương → NMF tự nhiên phù hợp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1178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D2FF"/>
                </a:solidFill>
                <a:latin typeface="Segoe UI"/>
              </a:defRPr>
            </a:pPr>
            <a:r>
              <a:t>②  Interpretability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711787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Segoe UI"/>
              </a:defRPr>
            </a:pPr>
            <a:r>
              <a:t>Latent factors dương → dễ giải thích (additive taste)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5186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D2FF"/>
                </a:solidFill>
                <a:latin typeface="Segoe UI"/>
              </a:defRPr>
            </a:pPr>
            <a:r>
              <a:t>③  Curriculum 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351867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Segoe UI"/>
              </a:defRPr>
            </a:pPr>
            <a:r>
              <a:t>NMF nằm trong syllabus (Session 53–55)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9194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D2FF"/>
                </a:solidFill>
                <a:latin typeface="Segoe UI"/>
              </a:defRPr>
            </a:pPr>
            <a:r>
              <a:t>④  Practical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991947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Segoe UI"/>
              </a:defRPr>
            </a:pPr>
            <a:r>
              <a:t>sklearn API đơn giản, tích hợp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639029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7618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482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AA"/>
                </a:solidFill>
                <a:latin typeface="Segoe UI"/>
              </a:defRPr>
            </a:pPr>
            <a:r>
              <a:t>MovieLens ml-latest-small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062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AA"/>
                </a:solidFill>
                <a:latin typeface="Segoe UI"/>
              </a:defRPr>
            </a:pPr>
            <a:r>
              <a:t>Nguồn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01062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MovieLens (GroupLens Research)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7755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AA"/>
                </a:solidFill>
                <a:latin typeface="Segoe UI"/>
              </a:defRPr>
            </a:pPr>
            <a:r>
              <a:t>Tổng ratings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57755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100,836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444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AA"/>
                </a:solidFill>
                <a:latin typeface="Segoe UI"/>
              </a:defRPr>
            </a:pPr>
            <a:r>
              <a:t>Số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1444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610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1141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AA"/>
                </a:solidFill>
                <a:latin typeface="Segoe UI"/>
              </a:defRPr>
            </a:pPr>
            <a:r>
              <a:t>Số movies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71141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9,742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7834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AA"/>
                </a:solidFill>
                <a:latin typeface="Segoe UI"/>
              </a:defRPr>
            </a:pPr>
            <a:r>
              <a:t>Thang điểm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27834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0.5 – 5.0 (half-star)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526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AA"/>
                </a:solidFill>
                <a:latin typeface="Segoe UI"/>
              </a:defRPr>
            </a:pPr>
            <a:r>
              <a:t>Sparsity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84526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9F43"/>
                </a:solidFill>
                <a:latin typeface="Segoe UI"/>
              </a:defRPr>
            </a:pPr>
            <a:r>
              <a:t>98.3%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121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AA"/>
                </a:solidFill>
                <a:latin typeface="Segoe UI"/>
              </a:defRPr>
            </a:pPr>
            <a:r>
              <a:t>Thời gian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4121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03/1996 – 09/2018</a:t>
            </a:r>
          </a:p>
        </p:txBody>
      </p:sp>
      <p:pic>
        <p:nvPicPr>
          <p:cNvPr id="19" name="Picture 18" descr="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6309"/>
            <a:ext cx="54864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77734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1489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EDA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353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AA"/>
                </a:solidFill>
                <a:latin typeface="Segoe UI"/>
              </a:defRPr>
            </a:pPr>
            <a:r>
              <a:rPr dirty="0"/>
              <a:t>Exploratory Data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20734"/>
            <a:ext cx="5029200" cy="425196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4933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D2FF"/>
                </a:solidFill>
                <a:latin typeface="Segoe UI"/>
              </a:defRPr>
            </a:pPr>
            <a:r>
              <a:t>KEY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06534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4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Rating phổ biến nhất: 4.0 ⭐</a:t>
            </a:r>
          </a:p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Median rating: 3.5 ⭐</a:t>
            </a:r>
          </a:p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 algn="l">
              <a:spcAft>
                <a:spcPts val="504"/>
              </a:spcAft>
              <a:defRPr sz="1400" b="1">
                <a:solidFill>
                  <a:srgbClr val="FF9F43"/>
                </a:solidFill>
                <a:latin typeface="Segoe UI"/>
              </a:defRPr>
            </a:pPr>
            <a:r>
              <a:t>Selection Bias:</a:t>
            </a:r>
          </a:p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Người dùng thường chỉ rate phim đã xem xong</a:t>
            </a:r>
          </a:p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→ thường là phim mình thích → skew trái</a:t>
            </a:r>
          </a:p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 algn="l">
              <a:spcAft>
                <a:spcPts val="504"/>
              </a:spcAft>
              <a:defRPr sz="1400" b="1">
                <a:solidFill>
                  <a:srgbClr val="FF9F43"/>
                </a:solidFill>
                <a:latin typeface="Segoe UI"/>
              </a:defRPr>
            </a:pPr>
            <a:r>
              <a:t>Popularity Bias:</a:t>
            </a:r>
          </a:p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Phim top: 329 ratings</a:t>
            </a:r>
          </a:p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Phim trung vị: chỉ 3 ratings</a:t>
            </a:r>
          </a:p>
          <a:p>
            <a:pPr algn="l">
              <a:spcAft>
                <a:spcPts val="504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→ Long-tail distribution</a:t>
            </a:r>
          </a:p>
        </p:txBody>
      </p:sp>
      <p:pic>
        <p:nvPicPr>
          <p:cNvPr id="8" name="Picture 7" descr="top10_most_rated_mov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57894"/>
            <a:ext cx="5760720" cy="31422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6576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Pipeline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AA"/>
                </a:solidFill>
                <a:latin typeface="Segoe UI"/>
              </a:defRPr>
            </a:pPr>
            <a:r>
              <a:t>End-to-End Reproducible Pipeline</a:t>
            </a:r>
          </a:p>
        </p:txBody>
      </p:sp>
      <p:pic>
        <p:nvPicPr>
          <p:cNvPr id="5" name="Picture 4" descr="pipelin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8229600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69680" y="1463040"/>
            <a:ext cx="3017520" cy="50292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D2FF"/>
                </a:solidFill>
                <a:latin typeface="Segoe UI"/>
              </a:defRPr>
            </a:pPr>
            <a:r>
              <a:t>PIPELINE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1. Data Loading (ratings.csv + movies.csv)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2. Train/Test Split (80/20, seed=42)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063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3. Baseline: Global Mean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36118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4. User-Item Matrix + Fill NaN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5. NMF Training (k=100, iter=200)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6. Reconstruction: R̂ = W ×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7. Evaluation: Pointwise + 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8. Export: model.pkl + metrics.json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49842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8700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rPr dirty="0"/>
              <a:t>Methodology — Baseline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3564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AA"/>
                </a:solidFill>
                <a:latin typeface="Segoe UI"/>
              </a:defRPr>
            </a:pPr>
            <a:r>
              <a:t>Global Mean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0002"/>
            <a:ext cx="11247120" cy="13716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144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9F43"/>
                </a:solidFill>
                <a:latin typeface="Segoe UI"/>
              </a:defRPr>
            </a:pPr>
            <a:r>
              <a:t>CÔNG THỨC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292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  <a:latin typeface="Segoe UI"/>
              </a:defRPr>
            </a:pPr>
            <a:r>
              <a:t>r̂(u, i)  =  μ  =  mean( tất cả ratings trong tập train )  ≈  3.5 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5880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9F43"/>
                </a:solidFill>
                <a:latin typeface="Segoe UI"/>
              </a:defRPr>
            </a:pPr>
            <a:r>
              <a:t>Vai trò: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55880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Segoe UI"/>
              </a:defRPr>
            </a:pPr>
            <a:r>
              <a:t>Làm mốc đối chứng (sanity check) — model phải thắng baseline mới có giá trị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7320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9F43"/>
                </a:solidFill>
                <a:latin typeface="Segoe UI"/>
              </a:defRPr>
            </a:pPr>
            <a:r>
              <a:t>Tại sao mạnh?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47320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Segoe UI"/>
              </a:defRPr>
            </a:pPr>
            <a:r>
              <a:t>Explicit ratings tập trung quanh mean → dự đoán mean đã khá gần đúng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8760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9F43"/>
                </a:solidFill>
                <a:latin typeface="Segoe UI"/>
              </a:defRPr>
            </a:pPr>
            <a:r>
              <a:t>Convention: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38760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Segoe UI"/>
              </a:defRPr>
            </a:pPr>
            <a:r>
              <a:t>Global Mean baseline là chuẩn mực trong RecSys evaluation (Koren et al., 2009)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6576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Methodology — NMF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AA"/>
                </a:solidFill>
                <a:latin typeface="Segoe UI"/>
              </a:defRPr>
            </a:pPr>
            <a:r>
              <a:t>Non-negative Matrix Factorization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82296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D2FF"/>
                </a:solidFill>
                <a:latin typeface="Segoe UI"/>
              </a:defRPr>
            </a:pPr>
            <a:r>
              <a:t>R (m×n)   ≈   W (m×k)   ×   H (k×n)         với   W ≥ 0,  H ≥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CCCCCC"/>
                </a:solidFill>
                <a:latin typeface="Segoe UI"/>
              </a:defRPr>
            </a:pPr>
            <a: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Segoe UI"/>
              </a:defRPr>
            </a:pPr>
            <a:r>
              <a:rPr dirty="0"/>
              <a:t>Ma </a:t>
            </a:r>
            <a:r>
              <a:rPr dirty="0" err="1"/>
              <a:t>trận</a:t>
            </a:r>
            <a:r>
              <a:rPr dirty="0"/>
              <a:t> 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97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AA"/>
                </a:solidFill>
                <a:latin typeface="Segoe UI"/>
              </a:defRPr>
            </a:pPr>
            <a:r>
              <a:t>610 users × 9,742 movies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0D2FF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Segoe UI"/>
              </a:defRPr>
            </a:pPr>
            <a:r>
              <a:t>Latent user preferences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918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AA"/>
                </a:solidFill>
                <a:latin typeface="Segoe UI"/>
              </a:defRPr>
            </a:pPr>
            <a:r>
              <a:t>610 × 100 — "khẩu vị" ẩn của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0F5D4"/>
                </a:solidFill>
                <a:latin typeface="Segoe UI"/>
              </a:defRPr>
            </a:pPr>
            <a:r>
              <a:t>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Segoe UI"/>
              </a:defRPr>
            </a:pPr>
            <a:r>
              <a:t>Latent item characteristics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86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AA"/>
                </a:solidFill>
                <a:latin typeface="Segoe UI"/>
              </a:defRPr>
            </a:pPr>
            <a:r>
              <a:t>100 × 9,742 — "tính chất" ẩn của phim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9F43"/>
                </a:solidFill>
                <a:latin typeface="Segoe UI"/>
              </a:defRPr>
            </a:pPr>
            <a:r>
              <a:t>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Số</a:t>
            </a:r>
            <a:r>
              <a:rPr dirty="0"/>
              <a:t> latent factors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805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AA"/>
                </a:solidFill>
                <a:latin typeface="Segoe UI"/>
              </a:defRPr>
            </a:pPr>
            <a:r>
              <a:t>100 chiều ẩn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120640"/>
            <a:ext cx="4846320" cy="146304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D2FF"/>
                </a:solidFill>
                <a:latin typeface="Segoe UI"/>
              </a:defRPr>
            </a:pPr>
            <a:r>
              <a:t>HYPERPARAMETERS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999AA"/>
                </a:solidFill>
                <a:latin typeface="Segoe UI"/>
              </a:defRPr>
            </a:pPr>
            <a:r>
              <a:t>n_components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815583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999AA"/>
                </a:solidFill>
                <a:latin typeface="Segoe UI"/>
              </a:defRPr>
            </a:pPr>
            <a:r>
              <a:t>max_iter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815583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Segoe UI"/>
              </a:defRPr>
            </a:pPr>
            <a: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6053327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999AA"/>
                </a:solidFill>
                <a:latin typeface="Segoe UI"/>
              </a:defRPr>
            </a:pPr>
            <a:r>
              <a:t>init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6053327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Segoe UI"/>
              </a:defRPr>
            </a:pPr>
            <a:r>
              <a:t>nndsvda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62910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999AA"/>
                </a:solidFill>
                <a:latin typeface="Segoe UI"/>
              </a:defRPr>
            </a:pPr>
            <a:r>
              <a:t>random_state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62910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120640"/>
            <a:ext cx="5943600" cy="146304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212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F5D4"/>
                </a:solidFill>
                <a:latin typeface="Segoe UI"/>
              </a:defRPr>
            </a:pPr>
            <a:r>
              <a:t>TẠI SAO NON-NEGATIVE?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7784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1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Ratings đều dương (0.5–5.0) → W, H dương tự nhiên phù hợp</a:t>
            </a:r>
          </a:p>
          <a:p>
            <a:pPr algn="l">
              <a:spcAft>
                <a:spcPts val="431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Latent factors dương → interpretable: mỗi factor = 1 taste</a:t>
            </a:r>
          </a:p>
          <a:p>
            <a:pPr algn="l">
              <a:spcAft>
                <a:spcPts val="431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dimension cộng dồn vào predicted rating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6576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AA"/>
                </a:solidFill>
                <a:latin typeface="Segoe UI"/>
              </a:defRPr>
            </a:pPr>
            <a:r>
              <a:t>Giải thích chi tiết các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4409090" cy="43891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5815" y="246919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9F43"/>
                </a:solidFill>
                <a:latin typeface="Segoe UI"/>
              </a:defRPr>
            </a:pPr>
            <a:r>
              <a:rPr dirty="0"/>
              <a:t>POINTWISE METRICS — </a:t>
            </a:r>
            <a:r>
              <a:rPr dirty="0" err="1"/>
              <a:t>Đo</a:t>
            </a:r>
            <a:r>
              <a:rPr dirty="0"/>
              <a:t> </a:t>
            </a:r>
            <a:r>
              <a:rPr dirty="0" err="1"/>
              <a:t>sai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255" y="3017835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9F43"/>
                </a:solidFill>
                <a:latin typeface="Segoe UI"/>
              </a:defRPr>
            </a:pPr>
            <a:r>
              <a:t>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5975" y="301783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onsolas"/>
              </a:defRPr>
            </a:pPr>
            <a:r>
              <a:t>√( mean( (y − ŷ)² 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255" y="3475035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Segoe UI"/>
              </a:defRPr>
            </a:pPr>
            <a:r>
              <a:t>Phạt nặng sai lệch lớn (bình phương)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255" y="4115115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9F43"/>
                </a:solidFill>
                <a:latin typeface="Segoe UI"/>
              </a:defRPr>
            </a:pPr>
            <a:r>
              <a:rPr dirty="0"/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5975" y="411511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onsolas"/>
              </a:defRPr>
            </a:pPr>
            <a:r>
              <a:t>mean( |y − ŷ|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255" y="4572315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Segoe UI"/>
              </a:defRPr>
            </a:pPr>
            <a:r>
              <a:t>Sai số tuyệt đối trung bình (trực quan)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05014" y="1376855"/>
            <a:ext cx="5841650" cy="4978225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70774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F5D4"/>
                </a:solidFill>
                <a:latin typeface="Segoe UI"/>
              </a:defRPr>
            </a:pPr>
            <a:r>
              <a:t>RANKING METRICS — Đo chất lượng Top-10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2214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F5D4"/>
                </a:solidFill>
                <a:latin typeface="Segoe UI"/>
              </a:defRPr>
            </a:pPr>
            <a:r>
              <a:t>P@10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5253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Segoe UI"/>
              </a:defRPr>
            </a:pPr>
            <a:r>
              <a:t>Bao nhiêu phim trong Top-10 user thích?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2214" y="29443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F5D4"/>
                </a:solidFill>
                <a:latin typeface="Segoe UI"/>
              </a:defRPr>
            </a:pPr>
            <a:r>
              <a:t>R@10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5253" y="2944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Segoe UI"/>
              </a:defRPr>
            </a:pPr>
            <a:r>
              <a:t>Cover bao nhiêu % phim hay?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2214" y="36027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F5D4"/>
                </a:solidFill>
                <a:latin typeface="Segoe UI"/>
              </a:defRPr>
            </a:pPr>
            <a:r>
              <a:t>F1@10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5253" y="36027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Segoe UI"/>
              </a:defRPr>
            </a:pPr>
            <a:r>
              <a:t>Harmonic mean của P và 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2214" y="42611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F5D4"/>
                </a:solidFill>
                <a:latin typeface="Segoe UI"/>
              </a:defRPr>
            </a:pPr>
            <a:r>
              <a:t>NDCG@10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5253" y="42611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Segoe UI"/>
              </a:defRPr>
            </a:pPr>
            <a:r>
              <a:t>Thứ tự xếp hạng tốt không? (position-sensitive)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919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F5D4"/>
                </a:solidFill>
                <a:latin typeface="Segoe UI"/>
              </a:defRPr>
            </a:pPr>
            <a:r>
              <a:t>MRR@10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919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Segoe UI"/>
              </a:defRPr>
            </a:pPr>
            <a:r>
              <a:t>Phim đúng đầu tiên ở vị trí nào?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87894" y="4754880"/>
            <a:ext cx="5486400" cy="11887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65519" y="490643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500" b="1">
                <a:solidFill>
                  <a:srgbClr val="FFE066"/>
                </a:solidFill>
                <a:latin typeface="Segoe UI"/>
              </a:defRPr>
            </a:pPr>
            <a:r>
              <a:rPr dirty="0" err="1"/>
              <a:t>Tại</a:t>
            </a:r>
            <a:r>
              <a:rPr dirty="0"/>
              <a:t> </a:t>
            </a:r>
            <a:r>
              <a:rPr dirty="0" err="1"/>
              <a:t>sao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CẢ HAI </a:t>
            </a:r>
            <a:r>
              <a:rPr dirty="0" err="1"/>
              <a:t>nhóm</a:t>
            </a:r>
            <a:r>
              <a:rPr dirty="0"/>
              <a:t>?</a:t>
            </a:r>
          </a:p>
          <a:p>
            <a:pPr algn="l">
              <a:spcAft>
                <a:spcPts val="468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→ Model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đoán</a:t>
            </a:r>
            <a:r>
              <a:rPr dirty="0"/>
              <a:t> rating OK </a:t>
            </a:r>
            <a:r>
              <a:rPr dirty="0" err="1"/>
              <a:t>nhưng</a:t>
            </a:r>
            <a:r>
              <a:rPr dirty="0"/>
              <a:t> Top-10 list </a:t>
            </a:r>
            <a:r>
              <a:rPr dirty="0" err="1"/>
              <a:t>tệ</a:t>
            </a:r>
            <a:r>
              <a:rPr dirty="0"/>
              <a:t> (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ngược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6576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Kết Quả — Pointwise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AA"/>
                </a:solidFill>
                <a:latin typeface="Segoe UI"/>
              </a:defRPr>
            </a:pPr>
            <a:r>
              <a:t>Baseline vs. NMF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11247120" cy="1600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D2FF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D2FF"/>
                </a:solidFill>
                <a:latin typeface="Segoe UI"/>
              </a:defRPr>
            </a:pPr>
            <a:r>
              <a:t>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59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D2FF"/>
                </a:solidFill>
                <a:latin typeface="Segoe UI"/>
              </a:defRPr>
            </a:pPr>
            <a: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9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D2FF"/>
                </a:solidFill>
                <a:latin typeface="Segoe UI"/>
              </a:defRPr>
            </a:pPr>
            <a:r>
              <a:t>RMSE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D2FF"/>
                </a:solidFill>
                <a:latin typeface="Segoe UI"/>
              </a:defRPr>
            </a:pPr>
            <a:r>
              <a:t>MAE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CCCCCC"/>
                </a:solidFill>
                <a:latin typeface="Segoe UI"/>
              </a:defRPr>
            </a:pPr>
            <a:r>
              <a:t>Global Mean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CCCCCC"/>
                </a:solidFill>
                <a:latin typeface="Segoe UI"/>
              </a:defRPr>
            </a:pPr>
            <a:r>
              <a:t>1.0488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CCCCCC"/>
                </a:solidFill>
                <a:latin typeface="Segoe UI"/>
              </a:defRPr>
            </a:pPr>
            <a:r>
              <a:t>0.8316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9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CCCCCC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CCCCCC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NMF (k=100)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1.0365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0.8212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19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51CF66"/>
                </a:solidFill>
                <a:latin typeface="Segoe UI"/>
              </a:defRPr>
            </a:pPr>
            <a:r>
              <a:t>+1.18%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51CF66"/>
                </a:solidFill>
                <a:latin typeface="Segoe UI"/>
              </a:defRPr>
            </a:pPr>
            <a:r>
              <a:t>+1.25%</a:t>
            </a:r>
          </a:p>
        </p:txBody>
      </p:sp>
      <p:pic>
        <p:nvPicPr>
          <p:cNvPr id="21" name="Picture 20" descr="baseline_vs_nmf_rmse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79" y="3291840"/>
            <a:ext cx="5440679" cy="34004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43799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8095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Kết Quả — Ranking Metrics @10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2959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AA"/>
                </a:solidFill>
                <a:latin typeface="Segoe UI"/>
              </a:defRPr>
            </a:pPr>
            <a:r>
              <a:t>NMF Model — Top-10 Recommendation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46819"/>
            <a:ext cx="5029200" cy="54864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382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D2FF"/>
                </a:solidFill>
                <a:latin typeface="Segoe UI"/>
              </a:defRPr>
            </a:pPr>
            <a:r>
              <a:t>Precision@10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8382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Segoe UI"/>
              </a:defRPr>
            </a:pPr>
            <a:r>
              <a:t>0.6023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83825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6/10 phim gợi ý đúng sở thích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05187"/>
            <a:ext cx="5029200" cy="54864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49662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D2FF"/>
                </a:solidFill>
                <a:latin typeface="Segoe UI"/>
              </a:defRPr>
            </a:pPr>
            <a:r>
              <a:t>Recall@10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9662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Segoe UI"/>
              </a:defRPr>
            </a:pPr>
            <a:r>
              <a:t>0.6447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496627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Cover 64% phim hay của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63555"/>
            <a:ext cx="5029200" cy="54864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15499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D2FF"/>
                </a:solidFill>
                <a:latin typeface="Segoe UI"/>
              </a:defRPr>
            </a:pPr>
            <a:r>
              <a:t>F1@10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15499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Segoe UI"/>
              </a:defRPr>
            </a:pPr>
            <a:r>
              <a:t>0.6228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154995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Cân bằng Precision &amp; Recall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21923"/>
            <a:ext cx="5029200" cy="54864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81336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51CF66"/>
                </a:solidFill>
                <a:latin typeface="Segoe UI"/>
              </a:defRPr>
            </a:pPr>
            <a:r>
              <a:t>NDCG@10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81336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Segoe UI"/>
              </a:defRPr>
            </a:pPr>
            <a:r>
              <a:t>0.8056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81336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Thứ tự xếp hạng gần chuẩn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0291"/>
            <a:ext cx="5029200" cy="54864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47173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51CF66"/>
                </a:solidFill>
                <a:latin typeface="Segoe UI"/>
              </a:defRPr>
            </a:pPr>
            <a:r>
              <a:t>MRR@10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47173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Segoe UI"/>
              </a:defRPr>
            </a:pPr>
            <a:r>
              <a:t>0.8628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47173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Phim đúng đầu tiên ở top 1–2</a:t>
            </a:r>
          </a:p>
        </p:txBody>
      </p:sp>
      <p:pic>
        <p:nvPicPr>
          <p:cNvPr id="25" name="Picture 24" descr="ranking_metrics_at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760720" cy="32004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545521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51CF66"/>
                </a:solidFill>
                <a:latin typeface="Segoe UI"/>
              </a:defRPr>
            </a:pPr>
            <a:r>
              <a:rPr dirty="0"/>
              <a:t>Key Insight: Ranking metrics </a:t>
            </a:r>
            <a:r>
              <a:rPr dirty="0" err="1"/>
              <a:t>tốt</a:t>
            </a:r>
            <a:r>
              <a:rPr dirty="0"/>
              <a:t> </a:t>
            </a:r>
            <a:r>
              <a:rPr dirty="0" err="1"/>
              <a:t>hơn</a:t>
            </a:r>
            <a:r>
              <a:rPr dirty="0"/>
              <a:t> </a:t>
            </a:r>
            <a:r>
              <a:rPr dirty="0" err="1"/>
              <a:t>đáng</a:t>
            </a:r>
            <a:r>
              <a:rPr dirty="0"/>
              <a:t> </a:t>
            </a:r>
            <a:r>
              <a:rPr dirty="0" err="1"/>
              <a:t>kể</a:t>
            </a:r>
            <a:r>
              <a:rPr dirty="0"/>
              <a:t> so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ấn</a:t>
            </a:r>
            <a:r>
              <a:rPr dirty="0"/>
              <a:t> </a:t>
            </a:r>
            <a:r>
              <a:rPr dirty="0" err="1"/>
              <a:t>tượng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pointwise metrics</a:t>
            </a:r>
            <a:br>
              <a:rPr dirty="0"/>
            </a:br>
            <a:r>
              <a:rPr dirty="0"/>
              <a:t>→ NMF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THỨ TỰ </a:t>
            </a:r>
            <a:r>
              <a:rPr dirty="0" err="1"/>
              <a:t>ưa</a:t>
            </a:r>
            <a:r>
              <a:rPr dirty="0"/>
              <a:t> </a:t>
            </a:r>
            <a:r>
              <a:rPr dirty="0" err="1"/>
              <a:t>thích</a:t>
            </a:r>
            <a:r>
              <a:rPr dirty="0"/>
              <a:t> </a:t>
            </a:r>
            <a:r>
              <a:rPr dirty="0" err="1"/>
              <a:t>rất</a:t>
            </a:r>
            <a:r>
              <a:rPr dirty="0"/>
              <a:t> </a:t>
            </a:r>
            <a:r>
              <a:rPr dirty="0" err="1"/>
              <a:t>tốt</a:t>
            </a:r>
            <a:r>
              <a:rPr dirty="0"/>
              <a:t>, </a:t>
            </a:r>
            <a:r>
              <a:rPr dirty="0" err="1"/>
              <a:t>dù</a:t>
            </a:r>
            <a:r>
              <a:rPr dirty="0"/>
              <a:t> </a:t>
            </a:r>
            <a:r>
              <a:rPr dirty="0" err="1"/>
              <a:t>sai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rating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thiện</a:t>
            </a:r>
            <a:r>
              <a:rPr dirty="0"/>
              <a:t> </a:t>
            </a:r>
            <a:r>
              <a:rPr dirty="0" err="1"/>
              <a:t>nhẹ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6576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Tại Sao Cải Thiện Khiêm Tốn?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AA"/>
                </a:solidFill>
                <a:latin typeface="Segoe UI"/>
              </a:defRPr>
            </a:pPr>
            <a:r>
              <a:t>Discussion — Why +1.18% is 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146304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9F43"/>
                </a:solidFill>
                <a:latin typeface="Segoe U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601822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9F43"/>
                </a:solidFill>
                <a:latin typeface="Segoe UI"/>
              </a:defRPr>
            </a:pPr>
            <a:r>
              <a:rPr dirty="0"/>
              <a:t>Baseline </a:t>
            </a:r>
            <a:r>
              <a:rPr dirty="0" err="1"/>
              <a:t>mạnh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Explicit Ratings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Segoe UI"/>
              </a:defRPr>
            </a:pPr>
            <a:r>
              <a:t>• User chủ động rate → ratings tập trung quanh mean (3.0–4.0)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Segoe UI"/>
              </a:defRPr>
            </a:pPr>
            <a:r>
              <a:t>• Global Mean ≈ 3.5 → dự đoán đã khá gần đúng rồi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Segoe UI"/>
              </a:defRPr>
            </a:pPr>
            <a:r>
              <a:t>• ≠ Implicit Feedback (clicks, views) có phân bố lệch hơn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40"/>
            <a:ext cx="11247120" cy="146304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6B6B"/>
                </a:solidFill>
                <a:latin typeface="Segoe UI"/>
              </a:defRPr>
            </a:pPr>
            <a: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6B6B"/>
                </a:solidFill>
                <a:latin typeface="Segoe UI"/>
              </a:defRPr>
            </a:pPr>
            <a:r>
              <a:rPr dirty="0"/>
              <a:t>Sparsity 98.3%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Segoe UI"/>
              </a:defRPr>
            </a:pPr>
            <a:r>
              <a:t>• Ma trận 5.9 triệu ô, chỉ 100K có giá trị (1.7%)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6907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Segoe UI"/>
              </a:defRPr>
            </a:pPr>
            <a:r>
              <a:t>• Model phải "đoán" 98% nội dung → thiếu tín hiệu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Segoe UI"/>
              </a:defRPr>
            </a:pPr>
            <a:r>
              <a:t>• Underdetermined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37760"/>
            <a:ext cx="11247120" cy="146304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E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983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E066"/>
                </a:solidFill>
                <a:latin typeface="Segoe UI"/>
              </a:defRPr>
            </a:pPr>
            <a: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E066"/>
                </a:solidFill>
                <a:latin typeface="Segoe UI"/>
              </a:defRPr>
            </a:pPr>
            <a:r>
              <a:t>Chiến lược Mean Imputation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94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Segoe UI"/>
              </a:defRPr>
            </a:pPr>
            <a:r>
              <a:t>• sklearn NMF cần ma trận đầy đủ → fill NaN = Global Mean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715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Segoe UI"/>
              </a:defRPr>
            </a:pPr>
            <a:r>
              <a:t>• 98% ô bị gán = mean → factorization bị bias về mean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035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E066"/>
                </a:solidFill>
                <a:latin typeface="Segoe UI"/>
              </a:defRPr>
            </a:pPr>
            <a:r>
              <a:t>• → Hạn chế lớn nhất: Funk SVD (Surprise) sẽ tốt hơn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754643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891803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0443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AA"/>
                </a:solidFill>
                <a:latin typeface="Segoe UI"/>
              </a:defRPr>
            </a:pPr>
            <a:r>
              <a:t>Hạn chế hiện tại và Hướng phát triển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80523"/>
            <a:ext cx="5303520" cy="379476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66018"/>
            <a:ext cx="4937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6B6B"/>
                </a:solidFill>
                <a:latin typeface="Segoe UI"/>
              </a:defRPr>
            </a:pPr>
            <a:r>
              <a:rPr dirty="0"/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776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🔴  Cold-Start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3208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User mới chưa có rating → NMF không hoạt động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4356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🔴  Mean Imputation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1788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Fill NaN = mean → dilute latent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2936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🟡  No Content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0368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Chưa khai thác genres, tags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1516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🟡  Single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8948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80/20 hold-out, chưa dùng K-fold CV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80523"/>
            <a:ext cx="5394960" cy="379476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5600" y="2443158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51CF66"/>
                </a:solidFill>
                <a:latin typeface="Segoe UI"/>
              </a:defRPr>
            </a:pPr>
            <a:r>
              <a:rPr dirty="0"/>
              <a:t>FUTURE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57763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✅  Funk SVD (Surprise)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32083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Train trên observed ratings → cải thiện RMSE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43563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✅  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17883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Genres + Tags → Hybrid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29363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rPr dirty="0"/>
              <a:t>✅  K-fold CV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503683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5-fold cho robustness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915163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✅  User Segmentation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189483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Segoe UI"/>
              </a:defRPr>
            </a:pPr>
            <a:r>
              <a:t>Đánh giá riêng power users vs. light users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114300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AA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23160"/>
            <a:ext cx="11247120" cy="7315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D2FF"/>
                </a:solidFill>
                <a:latin typeface="Segoe U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0D2FF"/>
                </a:solidFill>
                <a:latin typeface="Segoe UI"/>
              </a:defRPr>
            </a:pPr>
            <a:r>
              <a:t>+1.18% RMSE, +1.25% 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Segoe UI"/>
              </a:defRPr>
            </a:pPr>
            <a:r>
              <a:t>NMF tốt hơn Baseline — consistent trên 20K test cases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1840"/>
            <a:ext cx="11247120" cy="7315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F5D4"/>
                </a:solidFill>
                <a:latin typeface="Segoe UI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0F5D4"/>
                </a:solidFill>
                <a:latin typeface="Segoe UI"/>
              </a:defRPr>
            </a:pPr>
            <a:r>
              <a:t>Precision@10 = 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290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Segoe UI"/>
              </a:defRPr>
            </a:pPr>
            <a:r>
              <a:t>6/10 phim gợi ý đúng sở thích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60520"/>
            <a:ext cx="11247120" cy="7315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1CF66"/>
                </a:solidFill>
                <a:latin typeface="Segoe UI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51CF66"/>
                </a:solidFill>
                <a:latin typeface="Segoe UI"/>
              </a:defRPr>
            </a:pPr>
            <a:r>
              <a:t>NDCG = 0.81, MRR = 0.86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2976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Segoe UI"/>
              </a:defRPr>
            </a:pPr>
            <a:r>
              <a:t>Ranking quality cao — phim hay nằm ở đầu danh sách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CẢM ƠN THẦY/CÔ ĐÃ LẮNG NGHE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30040" y="2468880"/>
            <a:ext cx="393192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00D2FF"/>
                </a:solidFill>
                <a:latin typeface="Segoe UI"/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199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999AA"/>
                </a:solidFill>
                <a:latin typeface="Segoe UI"/>
              </a:defRPr>
            </a:pPr>
            <a:r>
              <a:rPr dirty="0"/>
              <a:t>📂 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0079" y="4114800"/>
            <a:ext cx="61233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onsolas"/>
              </a:defRPr>
            </a:pPr>
            <a:r>
              <a:rPr dirty="0" err="1"/>
              <a:t>github.com</a:t>
            </a:r>
            <a:r>
              <a:rPr dirty="0"/>
              <a:t>/</a:t>
            </a:r>
            <a:r>
              <a:rPr dirty="0" err="1"/>
              <a:t>Therockycloud</a:t>
            </a:r>
            <a:r>
              <a:rPr dirty="0"/>
              <a:t>/SVD-ail303m-g5project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199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999AA"/>
                </a:solidFill>
                <a:latin typeface="Segoe UI"/>
              </a:defRPr>
            </a:pPr>
            <a:r>
              <a:t>📄 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0079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onsolas"/>
              </a:defRPr>
            </a:pPr>
            <a:r>
              <a:t>reports/project_report.docx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199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999AA"/>
                </a:solidFill>
                <a:latin typeface="Segoe UI"/>
              </a:defRPr>
            </a:pPr>
            <a:r>
              <a:t>🔧 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79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onsolas"/>
              </a:defRPr>
            </a:pPr>
            <a:r>
              <a:t>python3 pipeline.py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1199" y="5623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999AA"/>
                </a:solidFill>
                <a:latin typeface="Segoe UI"/>
              </a:defRPr>
            </a:pPr>
            <a:r>
              <a:t>📊 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79" y="56235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onsolas"/>
              </a:defRPr>
            </a:pPr>
            <a:r>
              <a:rPr lang="en-VN" dirty="0"/>
              <a:t>au</a:t>
            </a:r>
            <a:r>
              <a:rPr dirty="0"/>
              <a:t>/</a:t>
            </a:r>
            <a:r>
              <a:rPr dirty="0" err="1"/>
              <a:t>pipeline_metrics.json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1549</Words>
  <Application>Microsoft Macintosh PowerPoint</Application>
  <PresentationFormat>Widescreen</PresentationFormat>
  <Paragraphs>285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Phạm Hoàng Hải</cp:lastModifiedBy>
  <cp:revision>3</cp:revision>
  <dcterms:created xsi:type="dcterms:W3CDTF">2013-01-27T09:14:16Z</dcterms:created>
  <dcterms:modified xsi:type="dcterms:W3CDTF">2026-03-18T17:30:48Z</dcterms:modified>
  <cp:category/>
</cp:coreProperties>
</file>